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01985-C2B7-483C-84F9-31955F42EDC1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0D788-0592-4FB4-BD96-0C2E02606A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411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01985-C2B7-483C-84F9-31955F42EDC1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0D788-0592-4FB4-BD96-0C2E02606A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9376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01985-C2B7-483C-84F9-31955F42EDC1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0D788-0592-4FB4-BD96-0C2E02606A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3065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01985-C2B7-483C-84F9-31955F42EDC1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0D788-0592-4FB4-BD96-0C2E02606A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5231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01985-C2B7-483C-84F9-31955F42EDC1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0D788-0592-4FB4-BD96-0C2E02606A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9832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01985-C2B7-483C-84F9-31955F42EDC1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0D788-0592-4FB4-BD96-0C2E02606A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2104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01985-C2B7-483C-84F9-31955F42EDC1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0D788-0592-4FB4-BD96-0C2E02606A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5842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01985-C2B7-483C-84F9-31955F42EDC1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0D788-0592-4FB4-BD96-0C2E02606A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7906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01985-C2B7-483C-84F9-31955F42EDC1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0D788-0592-4FB4-BD96-0C2E02606A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0735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01985-C2B7-483C-84F9-31955F42EDC1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0D788-0592-4FB4-BD96-0C2E02606A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1899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01985-C2B7-483C-84F9-31955F42EDC1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0D788-0592-4FB4-BD96-0C2E02606A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9537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D01985-C2B7-483C-84F9-31955F42EDC1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80D788-0592-4FB4-BD96-0C2E02606A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3004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6B1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92200" y="1752600"/>
            <a:ext cx="66040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4800" b="1" smtClean="0">
                <a:solidFill>
                  <a:srgbClr val="1C2A3A"/>
                </a:solidFill>
                <a:latin typeface="Microsoft YaHei" panose="020B0503020204020204" pitchFamily="34" charset="-122"/>
              </a:rPr>
              <a:t>逻辑证伪</a:t>
            </a:r>
            <a:endParaRPr lang="zh-CN" altLang="en-US" sz="4800" b="1">
              <a:solidFill>
                <a:srgbClr val="1C2A3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92200" y="2489200"/>
            <a:ext cx="66040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4800" b="1" smtClean="0">
                <a:solidFill>
                  <a:srgbClr val="16B1A6"/>
                </a:solidFill>
                <a:latin typeface="Microsoft YaHei" panose="020B0503020204020204" pitchFamily="34" charset="-122"/>
              </a:rPr>
              <a:t>应对系统</a:t>
            </a:r>
            <a:endParaRPr lang="zh-CN" altLang="en-US" sz="4800" b="1">
              <a:solidFill>
                <a:srgbClr val="16B1A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43000" y="3733800"/>
            <a:ext cx="7747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000" smtClean="0">
                <a:solidFill>
                  <a:srgbClr val="657487"/>
                </a:solidFill>
                <a:latin typeface="Microsoft YaHei" panose="020B0503020204020204" pitchFamily="34" charset="-122"/>
              </a:rPr>
              <a:t>判断方向之后，真正决定盈亏的是：市场证明我错了，我怎么办？</a:t>
            </a:r>
            <a:endParaRPr lang="zh-CN" altLang="en-US" sz="2000">
              <a:solidFill>
                <a:srgbClr val="65748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8763000" y="1676400"/>
            <a:ext cx="1905000" cy="2921000"/>
          </a:xfrm>
          <a:prstGeom prst="roundRect">
            <a:avLst/>
          </a:prstGeom>
          <a:solidFill>
            <a:srgbClr val="E8F9F6"/>
          </a:solidFill>
          <a:ln w="12700">
            <a:solidFill>
              <a:srgbClr val="CCEF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118600" y="2235200"/>
            <a:ext cx="1193800" cy="11079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2400" b="1" smtClean="0">
                <a:solidFill>
                  <a:srgbClr val="16B1A6"/>
                </a:solidFill>
                <a:latin typeface="Microsoft YaHei" panose="020B0503020204020204" pitchFamily="34" charset="-122"/>
              </a:rPr>
              <a:t>RULES
BEFORE
TRADE</a:t>
            </a:r>
            <a:endParaRPr lang="zh-CN" altLang="en-US" sz="2400" b="1">
              <a:solidFill>
                <a:srgbClr val="16B1A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43000" y="4953000"/>
            <a:ext cx="660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 smtClean="0">
                <a:solidFill>
                  <a:srgbClr val="16B1A6"/>
                </a:solidFill>
                <a:latin typeface="Microsoft YaHei" panose="020B0503020204020204" pitchFamily="34" charset="-122"/>
              </a:rPr>
              <a:t>把预测转化为预案，把情绪转化为规则</a:t>
            </a:r>
            <a:endParaRPr lang="zh-CN" altLang="en-US" sz="1500" b="1">
              <a:solidFill>
                <a:srgbClr val="16B1A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226800" y="6350000"/>
            <a:ext cx="50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smtClean="0">
                <a:solidFill>
                  <a:srgbClr val="A0AEC0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1000">
              <a:solidFill>
                <a:srgbClr val="A0AEC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51523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6B1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38200" y="609600"/>
            <a:ext cx="9652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3100" b="1" smtClean="0">
                <a:solidFill>
                  <a:srgbClr val="1C2A3A"/>
                </a:solidFill>
                <a:latin typeface="Microsoft YaHei" panose="020B0503020204020204" pitchFamily="34" charset="-122"/>
              </a:rPr>
              <a:t>核心定义</a:t>
            </a:r>
            <a:endParaRPr lang="zh-CN" altLang="en-US" sz="3100" b="1">
              <a:solidFill>
                <a:srgbClr val="1C2A3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38200" y="1320800"/>
            <a:ext cx="685800" cy="50800"/>
          </a:xfrm>
          <a:prstGeom prst="rect">
            <a:avLst/>
          </a:prstGeom>
          <a:solidFill>
            <a:srgbClr val="16B1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38200" y="1549400"/>
            <a:ext cx="9652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 smtClean="0">
                <a:solidFill>
                  <a:srgbClr val="657487"/>
                </a:solidFill>
                <a:latin typeface="Microsoft YaHei" panose="020B0503020204020204" pitchFamily="34" charset="-122"/>
              </a:rPr>
              <a:t>逻辑证伪不是猜涨跌，而是提前定义逻辑失效。</a:t>
            </a:r>
            <a:endParaRPr lang="zh-CN" altLang="en-US" sz="1400">
              <a:solidFill>
                <a:srgbClr val="65748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1117600" y="2413000"/>
            <a:ext cx="4191000" cy="2286000"/>
          </a:xfrm>
          <a:prstGeom prst="roundRect">
            <a:avLst/>
          </a:prstGeom>
          <a:solidFill>
            <a:srgbClr val="FFF7F7"/>
          </a:solidFill>
          <a:ln w="12700">
            <a:solidFill>
              <a:srgbClr val="F8DB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524000" y="2857500"/>
            <a:ext cx="3048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500" b="1" smtClean="0">
                <a:solidFill>
                  <a:srgbClr val="E4525C"/>
                </a:solidFill>
                <a:latin typeface="Microsoft YaHei" panose="020B0503020204020204" pitchFamily="34" charset="-122"/>
              </a:rPr>
              <a:t>普通止损</a:t>
            </a:r>
            <a:endParaRPr lang="zh-CN" altLang="en-US" sz="2500" b="1">
              <a:solidFill>
                <a:srgbClr val="E452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524000" y="3708400"/>
            <a:ext cx="29845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mtClean="0">
                <a:solidFill>
                  <a:srgbClr val="657487"/>
                </a:solidFill>
                <a:latin typeface="Microsoft YaHei" panose="020B0503020204020204" pitchFamily="34" charset="-122"/>
              </a:rPr>
              <a:t>亏到某个比例就卖，容易被价格波动牵着走。</a:t>
            </a:r>
            <a:endParaRPr lang="zh-CN" altLang="en-US">
              <a:solidFill>
                <a:srgbClr val="657487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5689600" y="3556000"/>
            <a:ext cx="812800" cy="0"/>
          </a:xfrm>
          <a:prstGeom prst="line">
            <a:avLst/>
          </a:prstGeom>
          <a:ln w="28575">
            <a:solidFill>
              <a:srgbClr val="8899A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圆角矩形 9"/>
          <p:cNvSpPr/>
          <p:nvPr/>
        </p:nvSpPr>
        <p:spPr>
          <a:xfrm>
            <a:off x="6883400" y="2413000"/>
            <a:ext cx="4191000" cy="2286000"/>
          </a:xfrm>
          <a:prstGeom prst="roundRect">
            <a:avLst/>
          </a:prstGeom>
          <a:solidFill>
            <a:srgbClr val="F0FBF9"/>
          </a:solidFill>
          <a:ln w="12700">
            <a:solidFill>
              <a:srgbClr val="CFEF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7289800" y="2857500"/>
            <a:ext cx="3048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500" b="1" smtClean="0">
                <a:solidFill>
                  <a:srgbClr val="16B1A6"/>
                </a:solidFill>
                <a:latin typeface="Microsoft YaHei" panose="020B0503020204020204" pitchFamily="34" charset="-122"/>
              </a:rPr>
              <a:t>逻辑证伪</a:t>
            </a:r>
            <a:endParaRPr lang="zh-CN" altLang="en-US" sz="2500" b="1">
              <a:solidFill>
                <a:srgbClr val="16B1A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289800" y="3708400"/>
            <a:ext cx="29845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mtClean="0">
                <a:solidFill>
                  <a:srgbClr val="1C2A3A"/>
                </a:solidFill>
                <a:latin typeface="Microsoft YaHei" panose="020B0503020204020204" pitchFamily="34" charset="-122"/>
              </a:rPr>
              <a:t>买入理由被市场推翻，就按预案退出或降级处理。</a:t>
            </a:r>
            <a:endParaRPr lang="zh-CN" altLang="en-US">
              <a:solidFill>
                <a:srgbClr val="1C2A3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1226800" y="6350000"/>
            <a:ext cx="50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smtClean="0">
                <a:solidFill>
                  <a:srgbClr val="A0AEC0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1000">
              <a:solidFill>
                <a:srgbClr val="A0AEC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81460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6B1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38200" y="609600"/>
            <a:ext cx="9652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3100" b="1" smtClean="0">
                <a:solidFill>
                  <a:srgbClr val="1C2A3A"/>
                </a:solidFill>
                <a:latin typeface="Microsoft YaHei" panose="020B0503020204020204" pitchFamily="34" charset="-122"/>
              </a:rPr>
              <a:t>第一步：写清楚入场逻辑</a:t>
            </a:r>
            <a:endParaRPr lang="zh-CN" altLang="en-US" sz="3100" b="1">
              <a:solidFill>
                <a:srgbClr val="1C2A3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38200" y="1320800"/>
            <a:ext cx="685800" cy="50800"/>
          </a:xfrm>
          <a:prstGeom prst="rect">
            <a:avLst/>
          </a:prstGeom>
          <a:solidFill>
            <a:srgbClr val="16B1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38200" y="1549400"/>
            <a:ext cx="9652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 smtClean="0">
                <a:solidFill>
                  <a:srgbClr val="657487"/>
                </a:solidFill>
                <a:latin typeface="Microsoft YaHei" panose="020B0503020204020204" pitchFamily="34" charset="-122"/>
              </a:rPr>
              <a:t>不要只写“看涨”，要写可以被检验的条件。</a:t>
            </a:r>
            <a:endParaRPr lang="zh-CN" altLang="en-US" sz="1400">
              <a:solidFill>
                <a:srgbClr val="65748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965200" y="2413000"/>
            <a:ext cx="3175000" cy="231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E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1270000" y="2692400"/>
            <a:ext cx="482600" cy="381000"/>
          </a:xfrm>
          <a:prstGeom prst="roundRect">
            <a:avLst/>
          </a:prstGeom>
          <a:solidFill>
            <a:srgbClr val="E9FA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270000" y="2755900"/>
            <a:ext cx="482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200" b="1" smtClean="0">
                <a:solidFill>
                  <a:srgbClr val="16B1A6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1200" b="1">
              <a:solidFill>
                <a:srgbClr val="16B1A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270000" y="3302000"/>
            <a:ext cx="2565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000" b="1" smtClean="0">
                <a:solidFill>
                  <a:srgbClr val="1C2A3A"/>
                </a:solidFill>
                <a:latin typeface="Microsoft YaHei" panose="020B0503020204020204" pitchFamily="34" charset="-122"/>
              </a:rPr>
              <a:t>周期条件</a:t>
            </a:r>
            <a:endParaRPr lang="zh-CN" altLang="en-US" sz="2000" b="1">
              <a:solidFill>
                <a:srgbClr val="1C2A3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270000" y="3835400"/>
            <a:ext cx="2565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smtClean="0">
                <a:solidFill>
                  <a:srgbClr val="657487"/>
                </a:solidFill>
                <a:latin typeface="Microsoft YaHei" panose="020B0503020204020204" pitchFamily="34" charset="-122"/>
              </a:rPr>
              <a:t>月线趋势向上；周线回调到支撑位；日线出现放量确认。</a:t>
            </a:r>
            <a:endParaRPr lang="zh-CN" altLang="en-US" sz="1500">
              <a:solidFill>
                <a:srgbClr val="65748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508500" y="2413000"/>
            <a:ext cx="3175000" cy="231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E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4813300" y="2692400"/>
            <a:ext cx="482600" cy="381000"/>
          </a:xfrm>
          <a:prstGeom prst="roundRect">
            <a:avLst/>
          </a:prstGeom>
          <a:solidFill>
            <a:srgbClr val="E9FA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4813300" y="2755900"/>
            <a:ext cx="482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200" b="1" smtClean="0">
                <a:solidFill>
                  <a:srgbClr val="16B1A6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1200" b="1">
              <a:solidFill>
                <a:srgbClr val="16B1A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813300" y="3302000"/>
            <a:ext cx="2565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000" b="1" smtClean="0">
                <a:solidFill>
                  <a:srgbClr val="1C2A3A"/>
                </a:solidFill>
                <a:latin typeface="Microsoft YaHei" panose="020B0503020204020204" pitchFamily="34" charset="-122"/>
              </a:rPr>
              <a:t>结构条件</a:t>
            </a:r>
            <a:endParaRPr lang="zh-CN" altLang="en-US" sz="2000" b="1">
              <a:solidFill>
                <a:srgbClr val="1C2A3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813300" y="3835400"/>
            <a:ext cx="2565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smtClean="0">
                <a:solidFill>
                  <a:srgbClr val="657487"/>
                </a:solidFill>
                <a:latin typeface="Microsoft YaHei" panose="020B0503020204020204" pitchFamily="34" charset="-122"/>
              </a:rPr>
              <a:t>价格站上关键均线、平台或趋势线，支撑与阻力位置清晰。</a:t>
            </a:r>
            <a:endParaRPr lang="zh-CN" altLang="en-US" sz="1500">
              <a:solidFill>
                <a:srgbClr val="65748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8051800" y="2413000"/>
            <a:ext cx="3175000" cy="231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E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8356600" y="2692400"/>
            <a:ext cx="482600" cy="381000"/>
          </a:xfrm>
          <a:prstGeom prst="roundRect">
            <a:avLst/>
          </a:prstGeom>
          <a:solidFill>
            <a:srgbClr val="E9FA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8356600" y="2755900"/>
            <a:ext cx="482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200" b="1" smtClean="0">
                <a:solidFill>
                  <a:srgbClr val="16B1A6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1200" b="1">
              <a:solidFill>
                <a:srgbClr val="16B1A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356600" y="3302000"/>
            <a:ext cx="2565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000" b="1" smtClean="0">
                <a:solidFill>
                  <a:srgbClr val="1C2A3A"/>
                </a:solidFill>
                <a:latin typeface="Microsoft YaHei" panose="020B0503020204020204" pitchFamily="34" charset="-122"/>
              </a:rPr>
              <a:t>环境条件</a:t>
            </a:r>
            <a:endParaRPr lang="zh-CN" altLang="en-US" sz="2000" b="1">
              <a:solidFill>
                <a:srgbClr val="1C2A3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356600" y="3835400"/>
            <a:ext cx="2565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smtClean="0">
                <a:solidFill>
                  <a:srgbClr val="657487"/>
                </a:solidFill>
                <a:latin typeface="Microsoft YaHei" panose="020B0503020204020204" pitchFamily="34" charset="-122"/>
              </a:rPr>
              <a:t>板块资金仍在流入，大盘环境没有明显系统性风险。</a:t>
            </a:r>
            <a:endParaRPr lang="zh-CN" altLang="en-US" sz="1500">
              <a:solidFill>
                <a:srgbClr val="65748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0" y="5410200"/>
            <a:ext cx="12192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900" b="1" smtClean="0">
                <a:solidFill>
                  <a:srgbClr val="16B1A6"/>
                </a:solidFill>
                <a:latin typeface="Microsoft YaHei" panose="020B0503020204020204" pitchFamily="34" charset="-122"/>
              </a:rPr>
              <a:t>逻辑越具体，越容易知道什么时候错了。</a:t>
            </a:r>
            <a:endParaRPr lang="zh-CN" altLang="en-US" sz="1900" b="1">
              <a:solidFill>
                <a:srgbClr val="16B1A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1226800" y="6350000"/>
            <a:ext cx="50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smtClean="0">
                <a:solidFill>
                  <a:srgbClr val="A0AEC0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1000">
              <a:solidFill>
                <a:srgbClr val="A0AEC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32832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6B1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38200" y="609600"/>
            <a:ext cx="9652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3100" b="1" smtClean="0">
                <a:solidFill>
                  <a:srgbClr val="1C2A3A"/>
                </a:solidFill>
                <a:latin typeface="Microsoft YaHei" panose="020B0503020204020204" pitchFamily="34" charset="-122"/>
              </a:rPr>
              <a:t>第二步：设置失效条件</a:t>
            </a:r>
            <a:endParaRPr lang="zh-CN" altLang="en-US" sz="3100" b="1">
              <a:solidFill>
                <a:srgbClr val="1C2A3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38200" y="1320800"/>
            <a:ext cx="685800" cy="50800"/>
          </a:xfrm>
          <a:prstGeom prst="rect">
            <a:avLst/>
          </a:prstGeom>
          <a:solidFill>
            <a:srgbClr val="16B1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38200" y="1549400"/>
            <a:ext cx="9652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 smtClean="0">
                <a:solidFill>
                  <a:srgbClr val="657487"/>
                </a:solidFill>
                <a:latin typeface="Microsoft YaHei" panose="020B0503020204020204" pitchFamily="34" charset="-122"/>
              </a:rPr>
              <a:t>每条买入理由，都必须有对应的证伪条件。</a:t>
            </a:r>
            <a:endParaRPr lang="zh-CN" altLang="en-US" sz="1400">
              <a:solidFill>
                <a:srgbClr val="65748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1168400" y="2082800"/>
            <a:ext cx="9779000" cy="584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E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1524000" y="2235200"/>
            <a:ext cx="304800" cy="304800"/>
          </a:xfrm>
          <a:prstGeom prst="ellipse">
            <a:avLst/>
          </a:prstGeom>
          <a:solidFill>
            <a:srgbClr val="16B1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524000" y="2286000"/>
            <a:ext cx="3048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00" b="1" smtClean="0">
                <a:solidFill>
                  <a:srgbClr val="FFFFFF"/>
                </a:solidFill>
                <a:latin typeface="Microsoft YaHei" panose="020B0503020204020204" pitchFamily="34" charset="-122"/>
              </a:rPr>
              <a:t>1</a:t>
            </a:r>
            <a:endParaRPr lang="zh-CN" altLang="en-US" sz="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032000" y="2209800"/>
            <a:ext cx="1905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b="1" smtClean="0">
                <a:solidFill>
                  <a:srgbClr val="1C2A3A"/>
                </a:solidFill>
                <a:latin typeface="Microsoft YaHei" panose="020B0503020204020204" pitchFamily="34" charset="-122"/>
              </a:rPr>
              <a:t>月线失效</a:t>
            </a:r>
            <a:endParaRPr lang="zh-CN" altLang="en-US" sz="1700" b="1">
              <a:solidFill>
                <a:srgbClr val="1C2A3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937000" y="2222500"/>
            <a:ext cx="6477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smtClean="0">
                <a:solidFill>
                  <a:srgbClr val="657487"/>
                </a:solidFill>
                <a:latin typeface="Microsoft YaHei" panose="020B0503020204020204" pitchFamily="34" charset="-122"/>
              </a:rPr>
              <a:t>跌破 </a:t>
            </a:r>
            <a:r>
              <a:rPr lang="en-US" altLang="zh-CN" sz="1500" smtClean="0">
                <a:solidFill>
                  <a:srgbClr val="657487"/>
                </a:solidFill>
                <a:latin typeface="Microsoft YaHei" panose="020B0503020204020204" pitchFamily="34" charset="-122"/>
              </a:rPr>
              <a:t>20 </a:t>
            </a:r>
            <a:r>
              <a:rPr lang="zh-CN" altLang="en-US" sz="1500" smtClean="0">
                <a:solidFill>
                  <a:srgbClr val="657487"/>
                </a:solidFill>
                <a:latin typeface="Microsoft YaHei" panose="020B0503020204020204" pitchFamily="34" charset="-122"/>
              </a:rPr>
              <a:t>月线且无法收回，长期趋势假设不再成立。</a:t>
            </a:r>
            <a:endParaRPr lang="zh-CN" altLang="en-US" sz="1500">
              <a:solidFill>
                <a:srgbClr val="65748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1168400" y="2870200"/>
            <a:ext cx="9779000" cy="584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E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1524000" y="3022600"/>
            <a:ext cx="304800" cy="304800"/>
          </a:xfrm>
          <a:prstGeom prst="ellipse">
            <a:avLst/>
          </a:prstGeom>
          <a:solidFill>
            <a:srgbClr val="16B1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524000" y="3073400"/>
            <a:ext cx="3048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00" b="1" smtClean="0">
                <a:solidFill>
                  <a:srgbClr val="FFFFFF"/>
                </a:solidFill>
                <a:latin typeface="Microsoft YaHei" panose="020B0503020204020204" pitchFamily="34" charset="-122"/>
              </a:rPr>
              <a:t>2</a:t>
            </a:r>
            <a:endParaRPr lang="zh-CN" altLang="en-US" sz="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032000" y="2997200"/>
            <a:ext cx="1905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b="1" smtClean="0">
                <a:solidFill>
                  <a:srgbClr val="1C2A3A"/>
                </a:solidFill>
                <a:latin typeface="Microsoft YaHei" panose="020B0503020204020204" pitchFamily="34" charset="-122"/>
              </a:rPr>
              <a:t>周线失效</a:t>
            </a:r>
            <a:endParaRPr lang="zh-CN" altLang="en-US" sz="1700" b="1">
              <a:solidFill>
                <a:srgbClr val="1C2A3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937000" y="3009900"/>
            <a:ext cx="6477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smtClean="0">
                <a:solidFill>
                  <a:srgbClr val="657487"/>
                </a:solidFill>
                <a:latin typeface="Microsoft YaHei" panose="020B0503020204020204" pitchFamily="34" charset="-122"/>
              </a:rPr>
              <a:t>周收盘跌破关键支撑，波段持有逻辑降级。</a:t>
            </a:r>
            <a:endParaRPr lang="zh-CN" altLang="en-US" sz="1500">
              <a:solidFill>
                <a:srgbClr val="65748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1168400" y="3657600"/>
            <a:ext cx="9779000" cy="584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E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1524000" y="3810000"/>
            <a:ext cx="304800" cy="304800"/>
          </a:xfrm>
          <a:prstGeom prst="ellipse">
            <a:avLst/>
          </a:prstGeom>
          <a:solidFill>
            <a:srgbClr val="16B1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524000" y="3860800"/>
            <a:ext cx="3048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00" b="1" smtClean="0">
                <a:solidFill>
                  <a:srgbClr val="FFFFFF"/>
                </a:solidFill>
                <a:latin typeface="Microsoft YaHei" panose="020B0503020204020204" pitchFamily="34" charset="-122"/>
              </a:rPr>
              <a:t>3</a:t>
            </a:r>
            <a:endParaRPr lang="zh-CN" altLang="en-US" sz="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032000" y="3784600"/>
            <a:ext cx="1905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b="1" smtClean="0">
                <a:solidFill>
                  <a:srgbClr val="1C2A3A"/>
                </a:solidFill>
                <a:latin typeface="Microsoft YaHei" panose="020B0503020204020204" pitchFamily="34" charset="-122"/>
              </a:rPr>
              <a:t>日线失效</a:t>
            </a:r>
            <a:endParaRPr lang="zh-CN" altLang="en-US" sz="1700" b="1">
              <a:solidFill>
                <a:srgbClr val="1C2A3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937000" y="3797300"/>
            <a:ext cx="6477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smtClean="0">
                <a:solidFill>
                  <a:srgbClr val="657487"/>
                </a:solidFill>
                <a:latin typeface="Microsoft YaHei" panose="020B0503020204020204" pitchFamily="34" charset="-122"/>
              </a:rPr>
              <a:t>放量突破后缩量跌回平台，突破真实性被证伪。</a:t>
            </a:r>
            <a:endParaRPr lang="zh-CN" altLang="en-US" sz="1500">
              <a:solidFill>
                <a:srgbClr val="65748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1168400" y="4445000"/>
            <a:ext cx="9779000" cy="584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E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1524000" y="4597400"/>
            <a:ext cx="304800" cy="304800"/>
          </a:xfrm>
          <a:prstGeom prst="ellipse">
            <a:avLst/>
          </a:prstGeom>
          <a:solidFill>
            <a:srgbClr val="16B1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1524000" y="4648200"/>
            <a:ext cx="3048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00" b="1" smtClean="0">
                <a:solidFill>
                  <a:srgbClr val="FFFFFF"/>
                </a:solidFill>
                <a:latin typeface="Microsoft YaHei" panose="020B0503020204020204" pitchFamily="34" charset="-122"/>
              </a:rPr>
              <a:t>4</a:t>
            </a:r>
            <a:endParaRPr lang="zh-CN" altLang="en-US" sz="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032000" y="4572000"/>
            <a:ext cx="1905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b="1" smtClean="0">
                <a:solidFill>
                  <a:srgbClr val="1C2A3A"/>
                </a:solidFill>
                <a:latin typeface="Microsoft YaHei" panose="020B0503020204020204" pitchFamily="34" charset="-122"/>
              </a:rPr>
              <a:t>板块失效</a:t>
            </a:r>
            <a:endParaRPr lang="zh-CN" altLang="en-US" sz="1700" b="1">
              <a:solidFill>
                <a:srgbClr val="1C2A3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937000" y="4584700"/>
            <a:ext cx="6477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smtClean="0">
                <a:solidFill>
                  <a:srgbClr val="657487"/>
                </a:solidFill>
                <a:latin typeface="Microsoft YaHei" panose="020B0503020204020204" pitchFamily="34" charset="-122"/>
              </a:rPr>
              <a:t>板块指数持续走弱，个股相对强度消失。</a:t>
            </a:r>
            <a:endParaRPr lang="zh-CN" altLang="en-US" sz="1500">
              <a:solidFill>
                <a:srgbClr val="65748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1226800" y="6350000"/>
            <a:ext cx="50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smtClean="0">
                <a:solidFill>
                  <a:srgbClr val="A0AEC0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1000">
              <a:solidFill>
                <a:srgbClr val="A0AEC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21660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6B1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38200" y="609600"/>
            <a:ext cx="9652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3100" b="1" smtClean="0">
                <a:solidFill>
                  <a:srgbClr val="1C2A3A"/>
                </a:solidFill>
                <a:latin typeface="Microsoft YaHei" panose="020B0503020204020204" pitchFamily="34" charset="-122"/>
              </a:rPr>
              <a:t>第三步：分层应对</a:t>
            </a:r>
            <a:endParaRPr lang="zh-CN" altLang="en-US" sz="3100" b="1">
              <a:solidFill>
                <a:srgbClr val="1C2A3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38200" y="1320800"/>
            <a:ext cx="685800" cy="50800"/>
          </a:xfrm>
          <a:prstGeom prst="rect">
            <a:avLst/>
          </a:prstGeom>
          <a:solidFill>
            <a:srgbClr val="16B1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38200" y="1549400"/>
            <a:ext cx="9652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 smtClean="0">
                <a:solidFill>
                  <a:srgbClr val="657487"/>
                </a:solidFill>
                <a:latin typeface="Microsoft YaHei" panose="020B0503020204020204" pitchFamily="34" charset="-122"/>
              </a:rPr>
              <a:t>不要把所有波动都当成卖出信号。</a:t>
            </a:r>
            <a:endParaRPr lang="zh-CN" altLang="en-US" sz="1400">
              <a:solidFill>
                <a:srgbClr val="65748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1117600" y="2413000"/>
            <a:ext cx="3111500" cy="2616200"/>
          </a:xfrm>
          <a:prstGeom prst="roundRect">
            <a:avLst/>
          </a:prstGeom>
          <a:solidFill>
            <a:srgbClr val="FFF9EE"/>
          </a:solidFill>
          <a:ln w="12700">
            <a:solidFill>
              <a:srgbClr val="E5EE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447800" y="2870200"/>
            <a:ext cx="2286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000" b="1" smtClean="0">
                <a:solidFill>
                  <a:srgbClr val="E6A22D"/>
                </a:solidFill>
                <a:latin typeface="Microsoft YaHei" panose="020B0503020204020204" pitchFamily="34" charset="-122"/>
              </a:rPr>
              <a:t>轻微异常</a:t>
            </a:r>
            <a:endParaRPr lang="zh-CN" altLang="en-US" sz="2000" b="1">
              <a:solidFill>
                <a:srgbClr val="E6A22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447800" y="3530600"/>
            <a:ext cx="2286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700" b="1" smtClean="0">
                <a:solidFill>
                  <a:srgbClr val="1C2A3A"/>
                </a:solidFill>
                <a:latin typeface="Microsoft YaHei" panose="020B0503020204020204" pitchFamily="34" charset="-122"/>
              </a:rPr>
              <a:t>减仓观察</a:t>
            </a:r>
            <a:endParaRPr lang="zh-CN" altLang="en-US" sz="2700" b="1">
              <a:solidFill>
                <a:srgbClr val="1C2A3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447800" y="4267200"/>
            <a:ext cx="23622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smtClean="0">
                <a:solidFill>
                  <a:srgbClr val="657487"/>
                </a:solidFill>
                <a:latin typeface="Microsoft YaHei" panose="020B0503020204020204" pitchFamily="34" charset="-122"/>
              </a:rPr>
              <a:t>日线走弱，但周线结构还没有破坏。</a:t>
            </a:r>
            <a:endParaRPr lang="zh-CN" altLang="en-US" sz="1500">
              <a:solidFill>
                <a:srgbClr val="65748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826000" y="2413000"/>
            <a:ext cx="3111500" cy="2616200"/>
          </a:xfrm>
          <a:prstGeom prst="roundRect">
            <a:avLst/>
          </a:prstGeom>
          <a:solidFill>
            <a:srgbClr val="FFF7F7"/>
          </a:solidFill>
          <a:ln w="12700">
            <a:solidFill>
              <a:srgbClr val="E5EE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156200" y="2870200"/>
            <a:ext cx="2286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000" b="1" smtClean="0">
                <a:solidFill>
                  <a:srgbClr val="E4525C"/>
                </a:solidFill>
                <a:latin typeface="Microsoft YaHei" panose="020B0503020204020204" pitchFamily="34" charset="-122"/>
              </a:rPr>
              <a:t>关键位失守</a:t>
            </a:r>
            <a:endParaRPr lang="zh-CN" altLang="en-US" sz="2000" b="1">
              <a:solidFill>
                <a:srgbClr val="E452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156200" y="3530600"/>
            <a:ext cx="2286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700" b="1" smtClean="0">
                <a:solidFill>
                  <a:srgbClr val="1C2A3A"/>
                </a:solidFill>
                <a:latin typeface="Microsoft YaHei" panose="020B0503020204020204" pitchFamily="34" charset="-122"/>
              </a:rPr>
              <a:t>执行止损</a:t>
            </a:r>
            <a:endParaRPr lang="zh-CN" altLang="en-US" sz="2700" b="1">
              <a:solidFill>
                <a:srgbClr val="1C2A3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156200" y="4267200"/>
            <a:ext cx="23622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smtClean="0">
                <a:solidFill>
                  <a:srgbClr val="657487"/>
                </a:solidFill>
                <a:latin typeface="Microsoft YaHei" panose="020B0503020204020204" pitchFamily="34" charset="-122"/>
              </a:rPr>
              <a:t>收盘跌破预设支撑，原交易逻辑被证伪。</a:t>
            </a:r>
            <a:endParaRPr lang="zh-CN" altLang="en-US" sz="1500">
              <a:solidFill>
                <a:srgbClr val="65748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534400" y="2413000"/>
            <a:ext cx="3111500" cy="2616200"/>
          </a:xfrm>
          <a:prstGeom prst="roundRect">
            <a:avLst/>
          </a:prstGeom>
          <a:solidFill>
            <a:srgbClr val="F2F7FF"/>
          </a:solidFill>
          <a:ln w="12700">
            <a:solidFill>
              <a:srgbClr val="E5EE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864600" y="2870200"/>
            <a:ext cx="2286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000" b="1" smtClean="0">
                <a:solidFill>
                  <a:srgbClr val="316DDD"/>
                </a:solidFill>
                <a:latin typeface="Microsoft YaHei" panose="020B0503020204020204" pitchFamily="34" charset="-122"/>
              </a:rPr>
              <a:t>逻辑完全反向</a:t>
            </a:r>
            <a:endParaRPr lang="zh-CN" altLang="en-US" sz="2000" b="1">
              <a:solidFill>
                <a:srgbClr val="316DD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864600" y="3530600"/>
            <a:ext cx="2286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700" b="1" smtClean="0">
                <a:solidFill>
                  <a:srgbClr val="1C2A3A"/>
                </a:solidFill>
                <a:latin typeface="Microsoft YaHei" panose="020B0503020204020204" pitchFamily="34" charset="-122"/>
              </a:rPr>
              <a:t>清仓停手</a:t>
            </a:r>
            <a:endParaRPr lang="zh-CN" altLang="en-US" sz="2700" b="1">
              <a:solidFill>
                <a:srgbClr val="1C2A3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864600" y="4267200"/>
            <a:ext cx="23622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smtClean="0">
                <a:solidFill>
                  <a:srgbClr val="657487"/>
                </a:solidFill>
                <a:latin typeface="Microsoft YaHei" panose="020B0503020204020204" pitchFamily="34" charset="-122"/>
              </a:rPr>
              <a:t>周期、结构、板块同时转弱，禁止补仓摊平。</a:t>
            </a:r>
            <a:endParaRPr lang="zh-CN" altLang="en-US" sz="1500">
              <a:solidFill>
                <a:srgbClr val="65748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1226800" y="6350000"/>
            <a:ext cx="50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smtClean="0">
                <a:solidFill>
                  <a:srgbClr val="A0AEC0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1000">
              <a:solidFill>
                <a:srgbClr val="A0AEC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68921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6B1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38200" y="609600"/>
            <a:ext cx="9652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3100" b="1" smtClean="0">
                <a:solidFill>
                  <a:srgbClr val="1C2A3A"/>
                </a:solidFill>
                <a:latin typeface="Microsoft YaHei" panose="020B0503020204020204" pitchFamily="34" charset="-122"/>
              </a:rPr>
              <a:t>第四步：交易前预案</a:t>
            </a:r>
            <a:endParaRPr lang="zh-CN" altLang="en-US" sz="3100" b="1">
              <a:solidFill>
                <a:srgbClr val="1C2A3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38200" y="1320800"/>
            <a:ext cx="685800" cy="50800"/>
          </a:xfrm>
          <a:prstGeom prst="rect">
            <a:avLst/>
          </a:prstGeom>
          <a:solidFill>
            <a:srgbClr val="16B1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38200" y="1549400"/>
            <a:ext cx="9652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 smtClean="0">
                <a:solidFill>
                  <a:srgbClr val="657487"/>
                </a:solidFill>
                <a:latin typeface="Microsoft YaHei" panose="020B0503020204020204" pitchFamily="34" charset="-122"/>
              </a:rPr>
              <a:t>买入前先回答四个问题。</a:t>
            </a:r>
            <a:endParaRPr lang="zh-CN" altLang="en-US" sz="1400">
              <a:solidFill>
                <a:srgbClr val="65748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22400" y="2133600"/>
            <a:ext cx="5588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 smtClean="0">
                <a:solidFill>
                  <a:srgbClr val="16B1A6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1700" b="1">
              <a:solidFill>
                <a:srgbClr val="16B1A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311400" y="2133600"/>
            <a:ext cx="3429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100" b="1" smtClean="0">
                <a:solidFill>
                  <a:srgbClr val="1C2A3A"/>
                </a:solidFill>
                <a:latin typeface="Microsoft YaHei" panose="020B0503020204020204" pitchFamily="34" charset="-122"/>
              </a:rPr>
              <a:t>我为什么买？</a:t>
            </a:r>
            <a:endParaRPr lang="zh-CN" altLang="en-US" sz="2100" b="1">
              <a:solidFill>
                <a:srgbClr val="1C2A3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969000" y="2159000"/>
            <a:ext cx="457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smtClean="0">
                <a:solidFill>
                  <a:srgbClr val="657487"/>
                </a:solidFill>
                <a:latin typeface="Microsoft YaHei" panose="020B0503020204020204" pitchFamily="34" charset="-122"/>
              </a:rPr>
              <a:t>明确方向、周期、结构和资金依据。</a:t>
            </a:r>
            <a:endParaRPr lang="zh-CN" altLang="en-US" sz="1600">
              <a:solidFill>
                <a:srgbClr val="65748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422400" y="3048000"/>
            <a:ext cx="5588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 smtClean="0">
                <a:solidFill>
                  <a:srgbClr val="16B1A6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1700" b="1">
              <a:solidFill>
                <a:srgbClr val="16B1A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311400" y="3048000"/>
            <a:ext cx="3429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100" b="1" smtClean="0">
                <a:solidFill>
                  <a:srgbClr val="1C2A3A"/>
                </a:solidFill>
                <a:latin typeface="Microsoft YaHei" panose="020B0503020204020204" pitchFamily="34" charset="-122"/>
              </a:rPr>
              <a:t>我错在哪里会被证明？</a:t>
            </a:r>
            <a:endParaRPr lang="zh-CN" altLang="en-US" sz="2100" b="1">
              <a:solidFill>
                <a:srgbClr val="1C2A3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969000" y="3073400"/>
            <a:ext cx="457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smtClean="0">
                <a:solidFill>
                  <a:srgbClr val="657487"/>
                </a:solidFill>
                <a:latin typeface="Microsoft YaHei" panose="020B0503020204020204" pitchFamily="34" charset="-122"/>
              </a:rPr>
              <a:t>写出可观察、可执行的证伪条件。</a:t>
            </a:r>
            <a:endParaRPr lang="zh-CN" altLang="en-US" sz="1600">
              <a:solidFill>
                <a:srgbClr val="65748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422400" y="3962400"/>
            <a:ext cx="5588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 smtClean="0">
                <a:solidFill>
                  <a:srgbClr val="16B1A6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1700" b="1">
              <a:solidFill>
                <a:srgbClr val="16B1A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311400" y="3962400"/>
            <a:ext cx="3429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100" b="1" smtClean="0">
                <a:solidFill>
                  <a:srgbClr val="1C2A3A"/>
                </a:solidFill>
                <a:latin typeface="Microsoft YaHei" panose="020B0503020204020204" pitchFamily="34" charset="-122"/>
              </a:rPr>
              <a:t>如果错了，在哪里退出？</a:t>
            </a:r>
            <a:endParaRPr lang="zh-CN" altLang="en-US" sz="2100" b="1">
              <a:solidFill>
                <a:srgbClr val="1C2A3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969000" y="3987800"/>
            <a:ext cx="457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smtClean="0">
                <a:solidFill>
                  <a:srgbClr val="657487"/>
                </a:solidFill>
                <a:latin typeface="Microsoft YaHei" panose="020B0503020204020204" pitchFamily="34" charset="-122"/>
              </a:rPr>
              <a:t>提前定好关键位和确认周期。</a:t>
            </a:r>
            <a:endParaRPr lang="zh-CN" altLang="en-US" sz="1600">
              <a:solidFill>
                <a:srgbClr val="65748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422400" y="4876800"/>
            <a:ext cx="5588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 smtClean="0">
                <a:solidFill>
                  <a:srgbClr val="16B1A6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1700" b="1">
              <a:solidFill>
                <a:srgbClr val="16B1A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311400" y="4876800"/>
            <a:ext cx="3429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100" b="1" smtClean="0">
                <a:solidFill>
                  <a:srgbClr val="1C2A3A"/>
                </a:solidFill>
                <a:latin typeface="Microsoft YaHei" panose="020B0503020204020204" pitchFamily="34" charset="-122"/>
              </a:rPr>
              <a:t>如果对了，如何处理？</a:t>
            </a:r>
            <a:endParaRPr lang="zh-CN" altLang="en-US" sz="2100" b="1">
              <a:solidFill>
                <a:srgbClr val="1C2A3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969000" y="4902200"/>
            <a:ext cx="457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smtClean="0">
                <a:solidFill>
                  <a:srgbClr val="657487"/>
                </a:solidFill>
                <a:latin typeface="Microsoft YaHei" panose="020B0503020204020204" pitchFamily="34" charset="-122"/>
              </a:rPr>
              <a:t>设计加仓、止盈和持有条件。</a:t>
            </a:r>
            <a:endParaRPr lang="zh-CN" altLang="en-US" sz="1600">
              <a:solidFill>
                <a:srgbClr val="65748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1226800" y="6350000"/>
            <a:ext cx="50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smtClean="0">
                <a:solidFill>
                  <a:srgbClr val="A0AEC0"/>
                </a:solidFill>
                <a:latin typeface="Microsoft YaHei" panose="020B0503020204020204" pitchFamily="34" charset="-122"/>
              </a:rPr>
              <a:t>06</a:t>
            </a:r>
            <a:endParaRPr lang="zh-CN" altLang="en-US" sz="1000">
              <a:solidFill>
                <a:srgbClr val="A0AEC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91810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6B1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38200" y="609600"/>
            <a:ext cx="9652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3100" b="1" smtClean="0">
                <a:solidFill>
                  <a:srgbClr val="1C2A3A"/>
                </a:solidFill>
                <a:latin typeface="Microsoft YaHei" panose="020B0503020204020204" pitchFamily="34" charset="-122"/>
              </a:rPr>
              <a:t>用收盘确认减少噪音</a:t>
            </a:r>
            <a:endParaRPr lang="zh-CN" altLang="en-US" sz="3100" b="1">
              <a:solidFill>
                <a:srgbClr val="1C2A3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38200" y="1320800"/>
            <a:ext cx="685800" cy="50800"/>
          </a:xfrm>
          <a:prstGeom prst="rect">
            <a:avLst/>
          </a:prstGeom>
          <a:solidFill>
            <a:srgbClr val="16B1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38200" y="1549400"/>
            <a:ext cx="9652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00" smtClean="0">
                <a:solidFill>
                  <a:srgbClr val="657487"/>
                </a:solidFill>
                <a:latin typeface="Microsoft YaHei" panose="020B0503020204020204" pitchFamily="34" charset="-122"/>
              </a:rPr>
              <a:t>A </a:t>
            </a:r>
            <a:r>
              <a:rPr lang="zh-CN" altLang="en-US" sz="1400" smtClean="0">
                <a:solidFill>
                  <a:srgbClr val="657487"/>
                </a:solidFill>
                <a:latin typeface="Microsoft YaHei" panose="020B0503020204020204" pitchFamily="34" charset="-122"/>
              </a:rPr>
              <a:t>股 </a:t>
            </a:r>
            <a:r>
              <a:rPr lang="en-US" altLang="zh-CN" sz="1400" smtClean="0">
                <a:solidFill>
                  <a:srgbClr val="657487"/>
                </a:solidFill>
                <a:latin typeface="Microsoft YaHei" panose="020B0503020204020204" pitchFamily="34" charset="-122"/>
              </a:rPr>
              <a:t>T+1 </a:t>
            </a:r>
            <a:r>
              <a:rPr lang="zh-CN" altLang="en-US" sz="1400" smtClean="0">
                <a:solidFill>
                  <a:srgbClr val="657487"/>
                </a:solidFill>
                <a:latin typeface="Microsoft YaHei" panose="020B0503020204020204" pitchFamily="34" charset="-122"/>
              </a:rPr>
              <a:t>环境中，盘中波动不能替代确认。</a:t>
            </a:r>
            <a:endParaRPr lang="zh-CN" altLang="en-US" sz="1400">
              <a:solidFill>
                <a:srgbClr val="65748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1143000" y="2438400"/>
            <a:ext cx="2921000" cy="223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E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1447800" y="2717800"/>
            <a:ext cx="482600" cy="381000"/>
          </a:xfrm>
          <a:prstGeom prst="roundRect">
            <a:avLst/>
          </a:prstGeom>
          <a:solidFill>
            <a:srgbClr val="E9FA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447800" y="2781300"/>
            <a:ext cx="482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200" b="1" smtClean="0">
                <a:solidFill>
                  <a:srgbClr val="16B1A6"/>
                </a:solidFill>
                <a:latin typeface="Microsoft YaHei" panose="020B0503020204020204" pitchFamily="34" charset="-122"/>
              </a:rPr>
              <a:t>D</a:t>
            </a:r>
            <a:endParaRPr lang="zh-CN" altLang="en-US" sz="1200" b="1">
              <a:solidFill>
                <a:srgbClr val="16B1A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447800" y="3327400"/>
            <a:ext cx="2311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000" b="1" smtClean="0">
                <a:solidFill>
                  <a:srgbClr val="1C2A3A"/>
                </a:solidFill>
                <a:latin typeface="Microsoft YaHei" panose="020B0503020204020204" pitchFamily="34" charset="-122"/>
              </a:rPr>
              <a:t>日线级别</a:t>
            </a:r>
            <a:endParaRPr lang="zh-CN" altLang="en-US" sz="2000" b="1">
              <a:solidFill>
                <a:srgbClr val="1C2A3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447800" y="3860800"/>
            <a:ext cx="2311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smtClean="0">
                <a:solidFill>
                  <a:srgbClr val="657487"/>
                </a:solidFill>
                <a:latin typeface="Microsoft YaHei" panose="020B0503020204020204" pitchFamily="34" charset="-122"/>
              </a:rPr>
              <a:t>看当日收盘是否收回关键位，避免被盘中假跌破带偏。</a:t>
            </a:r>
            <a:endParaRPr lang="zh-CN" altLang="en-US" sz="1500">
              <a:solidFill>
                <a:srgbClr val="65748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635500" y="2438400"/>
            <a:ext cx="2921000" cy="223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E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4940300" y="2717800"/>
            <a:ext cx="482600" cy="381000"/>
          </a:xfrm>
          <a:prstGeom prst="roundRect">
            <a:avLst/>
          </a:prstGeom>
          <a:solidFill>
            <a:srgbClr val="E9FA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4940300" y="2781300"/>
            <a:ext cx="482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200" b="1" smtClean="0">
                <a:solidFill>
                  <a:srgbClr val="16B1A6"/>
                </a:solidFill>
                <a:latin typeface="Microsoft YaHei" panose="020B0503020204020204" pitchFamily="34" charset="-122"/>
              </a:rPr>
              <a:t>W</a:t>
            </a:r>
            <a:endParaRPr lang="zh-CN" altLang="en-US" sz="1200" b="1">
              <a:solidFill>
                <a:srgbClr val="16B1A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940300" y="3327400"/>
            <a:ext cx="2311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000" b="1" smtClean="0">
                <a:solidFill>
                  <a:srgbClr val="1C2A3A"/>
                </a:solidFill>
                <a:latin typeface="Microsoft YaHei" panose="020B0503020204020204" pitchFamily="34" charset="-122"/>
              </a:rPr>
              <a:t>周线级别</a:t>
            </a:r>
            <a:endParaRPr lang="zh-CN" altLang="en-US" sz="2000" b="1">
              <a:solidFill>
                <a:srgbClr val="1C2A3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940300" y="3860800"/>
            <a:ext cx="2311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smtClean="0">
                <a:solidFill>
                  <a:srgbClr val="657487"/>
                </a:solidFill>
                <a:latin typeface="Microsoft YaHei" panose="020B0503020204020204" pitchFamily="34" charset="-122"/>
              </a:rPr>
              <a:t>看周五收盘是否守住支撑，决定波段逻辑是否延续。</a:t>
            </a:r>
            <a:endParaRPr lang="zh-CN" altLang="en-US" sz="1500">
              <a:solidFill>
                <a:srgbClr val="65748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8128000" y="2438400"/>
            <a:ext cx="2921000" cy="223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E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8432800" y="2717800"/>
            <a:ext cx="482600" cy="381000"/>
          </a:xfrm>
          <a:prstGeom prst="roundRect">
            <a:avLst/>
          </a:prstGeom>
          <a:solidFill>
            <a:srgbClr val="E9FA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8432800" y="2781300"/>
            <a:ext cx="482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200" b="1" smtClean="0">
                <a:solidFill>
                  <a:srgbClr val="16B1A6"/>
                </a:solidFill>
                <a:latin typeface="Microsoft YaHei" panose="020B0503020204020204" pitchFamily="34" charset="-122"/>
              </a:rPr>
              <a:t>M</a:t>
            </a:r>
            <a:endParaRPr lang="zh-CN" altLang="en-US" sz="1200" b="1">
              <a:solidFill>
                <a:srgbClr val="16B1A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432800" y="3327400"/>
            <a:ext cx="2311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000" b="1" smtClean="0">
                <a:solidFill>
                  <a:srgbClr val="1C2A3A"/>
                </a:solidFill>
                <a:latin typeface="Microsoft YaHei" panose="020B0503020204020204" pitchFamily="34" charset="-122"/>
              </a:rPr>
              <a:t>月线级别</a:t>
            </a:r>
            <a:endParaRPr lang="zh-CN" altLang="en-US" sz="2000" b="1">
              <a:solidFill>
                <a:srgbClr val="1C2A3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432800" y="3860800"/>
            <a:ext cx="2311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smtClean="0">
                <a:solidFill>
                  <a:srgbClr val="657487"/>
                </a:solidFill>
                <a:latin typeface="Microsoft YaHei" panose="020B0503020204020204" pitchFamily="34" charset="-122"/>
              </a:rPr>
              <a:t>看月末是否维持趋势结构，用来判断长期生态是否改变。</a:t>
            </a:r>
            <a:endParaRPr lang="zh-CN" altLang="en-US" sz="1500">
              <a:solidFill>
                <a:srgbClr val="65748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1226800" y="6350000"/>
            <a:ext cx="50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smtClean="0">
                <a:solidFill>
                  <a:srgbClr val="A0AEC0"/>
                </a:solidFill>
                <a:latin typeface="Microsoft YaHei" panose="020B0503020204020204" pitchFamily="34" charset="-122"/>
              </a:rPr>
              <a:t>07</a:t>
            </a:r>
            <a:endParaRPr lang="zh-CN" altLang="en-US" sz="1000">
              <a:solidFill>
                <a:srgbClr val="A0AEC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56762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6B1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38200" y="609600"/>
            <a:ext cx="9652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3100" b="1" smtClean="0">
                <a:solidFill>
                  <a:srgbClr val="1C2A3A"/>
                </a:solidFill>
                <a:latin typeface="Microsoft YaHei" panose="020B0503020204020204" pitchFamily="34" charset="-122"/>
              </a:rPr>
              <a:t>一页执行清单</a:t>
            </a:r>
            <a:endParaRPr lang="zh-CN" altLang="en-US" sz="3100" b="1">
              <a:solidFill>
                <a:srgbClr val="1C2A3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38200" y="1320800"/>
            <a:ext cx="685800" cy="50800"/>
          </a:xfrm>
          <a:prstGeom prst="rect">
            <a:avLst/>
          </a:prstGeom>
          <a:solidFill>
            <a:srgbClr val="16B1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38200" y="1549400"/>
            <a:ext cx="9652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 smtClean="0">
                <a:solidFill>
                  <a:srgbClr val="657487"/>
                </a:solidFill>
                <a:latin typeface="Microsoft YaHei" panose="020B0503020204020204" pitchFamily="34" charset="-122"/>
              </a:rPr>
              <a:t>把系统落到每一笔交易。</a:t>
            </a:r>
            <a:endParaRPr lang="zh-CN" altLang="en-US" sz="1400">
              <a:solidFill>
                <a:srgbClr val="65748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30400" y="2247900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6B1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463800" y="2209800"/>
            <a:ext cx="774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mtClean="0">
                <a:solidFill>
                  <a:srgbClr val="1C2A3A"/>
                </a:solidFill>
                <a:latin typeface="Microsoft YaHei" panose="020B0503020204020204" pitchFamily="34" charset="-122"/>
              </a:rPr>
              <a:t>买入理由写成具体条件，而不是一句感觉</a:t>
            </a:r>
            <a:endParaRPr lang="zh-CN" altLang="en-US">
              <a:solidFill>
                <a:srgbClr val="1C2A3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930400" y="2933700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6B1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463800" y="2895600"/>
            <a:ext cx="774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mtClean="0">
                <a:solidFill>
                  <a:srgbClr val="1C2A3A"/>
                </a:solidFill>
                <a:latin typeface="Microsoft YaHei" panose="020B0503020204020204" pitchFamily="34" charset="-122"/>
              </a:rPr>
              <a:t>每条理由都有对应的证伪条件</a:t>
            </a:r>
            <a:endParaRPr lang="zh-CN" altLang="en-US">
              <a:solidFill>
                <a:srgbClr val="1C2A3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930400" y="3619500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6B1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463800" y="3581400"/>
            <a:ext cx="774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mtClean="0">
                <a:solidFill>
                  <a:srgbClr val="1C2A3A"/>
                </a:solidFill>
                <a:latin typeface="Microsoft YaHei" panose="020B0503020204020204" pitchFamily="34" charset="-122"/>
              </a:rPr>
              <a:t>轻微异常、关键失守、完全反向分层处理</a:t>
            </a:r>
            <a:endParaRPr lang="zh-CN" altLang="en-US">
              <a:solidFill>
                <a:srgbClr val="1C2A3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930400" y="4305300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6B1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2463800" y="4267200"/>
            <a:ext cx="774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mtClean="0">
                <a:solidFill>
                  <a:srgbClr val="1C2A3A"/>
                </a:solidFill>
                <a:latin typeface="Microsoft YaHei" panose="020B0503020204020204" pitchFamily="34" charset="-122"/>
              </a:rPr>
              <a:t>买入前写好退出位和确认周期</a:t>
            </a:r>
            <a:endParaRPr lang="zh-CN" altLang="en-US">
              <a:solidFill>
                <a:srgbClr val="1C2A3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930400" y="4991100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6B1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2463800" y="4953000"/>
            <a:ext cx="774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mtClean="0">
                <a:solidFill>
                  <a:srgbClr val="1C2A3A"/>
                </a:solidFill>
                <a:latin typeface="Microsoft YaHei" panose="020B0503020204020204" pitchFamily="34" charset="-122"/>
              </a:rPr>
              <a:t>看错时亏得可控，看对时拿得住</a:t>
            </a:r>
            <a:endParaRPr lang="zh-CN" altLang="en-US">
              <a:solidFill>
                <a:srgbClr val="1C2A3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0" y="5867400"/>
            <a:ext cx="1219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b="1" smtClean="0">
                <a:solidFill>
                  <a:srgbClr val="16B1A6"/>
                </a:solidFill>
                <a:latin typeface="Microsoft YaHei" panose="020B0503020204020204" pitchFamily="34" charset="-122"/>
              </a:rPr>
              <a:t>成熟系统的目标不是每次看对，而是看错时有规则。</a:t>
            </a:r>
            <a:endParaRPr lang="zh-CN" altLang="en-US" b="1">
              <a:solidFill>
                <a:srgbClr val="16B1A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1226800" y="6350000"/>
            <a:ext cx="50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smtClean="0">
                <a:solidFill>
                  <a:srgbClr val="A0AEC0"/>
                </a:solidFill>
                <a:latin typeface="Microsoft YaHei" panose="020B0503020204020204" pitchFamily="34" charset="-122"/>
              </a:rPr>
              <a:t>08</a:t>
            </a:r>
            <a:endParaRPr lang="zh-CN" altLang="en-US" sz="1000">
              <a:solidFill>
                <a:srgbClr val="A0AEC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4420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861</Words>
  <Application>Microsoft Office PowerPoint</Application>
  <PresentationFormat>自定义</PresentationFormat>
  <Paragraphs>89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DoubleOX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CodexSandboxOffline</dc:creator>
  <cp:lastModifiedBy>CodexSandboxOffline</cp:lastModifiedBy>
  <cp:revision>1</cp:revision>
  <dcterms:created xsi:type="dcterms:W3CDTF">2026-07-01T01:37:30Z</dcterms:created>
  <dcterms:modified xsi:type="dcterms:W3CDTF">2026-07-01T01:37:30Z</dcterms:modified>
</cp:coreProperties>
</file>