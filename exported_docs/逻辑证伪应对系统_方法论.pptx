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7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25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4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28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14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812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21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75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55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13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8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82817-7A66-4406-9781-8DC7E613EB19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01ECD-319F-4126-AD1C-DBF6F52EFF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153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0" y="1676400"/>
            <a:ext cx="1219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46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逻辑证伪应对系统</a:t>
            </a:r>
            <a:endParaRPr lang="zh-CN" altLang="en-US" sz="46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14500" y="2870200"/>
            <a:ext cx="876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判断方向之后，真正决定盈亏的是：市场证明我错了，我怎么办？</a:t>
            </a:r>
            <a:endParaRPr lang="zh-CN" altLang="en-US" sz="22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0" y="4394200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把预测转化为预案，把情绪转化为规则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138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核心定义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39800" y="1371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逻辑证伪不是猜涨跌，而是提前定义逻辑失效。</a:t>
            </a:r>
            <a:endParaRPr lang="zh-CN" altLang="en-US" sz="14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168400" y="2286000"/>
            <a:ext cx="4191000" cy="2413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549400" y="2743200"/>
            <a:ext cx="317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 smtClean="0">
                <a:solidFill>
                  <a:srgbClr val="FF5E66"/>
                </a:solidFill>
                <a:latin typeface="Microsoft YaHei" panose="020B0503020204020204" pitchFamily="34" charset="-122"/>
              </a:rPr>
              <a:t>普通止损</a:t>
            </a:r>
            <a:endParaRPr lang="zh-CN" altLang="en-US" sz="2600" b="1">
              <a:solidFill>
                <a:srgbClr val="FF5E6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49400" y="3606800"/>
            <a:ext cx="317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亏到某个比例就卖，容易被价格波动牵着走。</a:t>
            </a:r>
            <a:endParaRPr lang="zh-CN" altLang="en-US" sz="20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6832600" y="2286000"/>
            <a:ext cx="4191000" cy="2413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213600" y="2743200"/>
            <a:ext cx="317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逻辑证伪</a:t>
            </a:r>
            <a:endParaRPr lang="zh-CN" altLang="en-US" sz="26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213600" y="3606800"/>
            <a:ext cx="317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买入理由被市场推翻，就按预案退出或降级处理。</a:t>
            </a:r>
            <a:endParaRPr lang="zh-CN" altLang="en-US" sz="20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613400" y="3505200"/>
            <a:ext cx="939800" cy="0"/>
          </a:xfrm>
          <a:prstGeom prst="line">
            <a:avLst/>
          </a:prstGeom>
          <a:ln w="31750">
            <a:solidFill>
              <a:srgbClr val="57F5D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28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第一步：写清楚入场逻辑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39800" y="1371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不要只写“看涨”，要写可以被检验的条件。</a:t>
            </a:r>
            <a:endParaRPr lang="zh-CN" altLang="en-US" sz="14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016000" y="2349500"/>
            <a:ext cx="3111500" cy="2413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295400" y="26035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95400" y="3238500"/>
            <a:ext cx="2552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周期条件</a:t>
            </a:r>
            <a:endParaRPr lang="zh-CN" altLang="en-US" sz="21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295400" y="3822700"/>
            <a:ext cx="25527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月线趋势向上；周线回调到支撑位；日线出现放量确认。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4533900" y="2349500"/>
            <a:ext cx="3111500" cy="2413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4813300" y="26035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813300" y="3238500"/>
            <a:ext cx="2552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结构条件</a:t>
            </a:r>
            <a:endParaRPr lang="zh-CN" altLang="en-US" sz="21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813300" y="3822700"/>
            <a:ext cx="25527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价格站上关键均线、平台或趋势线，支撑与阻力位置清晰。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051800" y="2349500"/>
            <a:ext cx="3111500" cy="2413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331200" y="26035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331200" y="3238500"/>
            <a:ext cx="2552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环境条件</a:t>
            </a:r>
            <a:endParaRPr lang="zh-CN" altLang="en-US" sz="21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31200" y="3822700"/>
            <a:ext cx="25527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板块资金仍在流入，大盘环境没有明显系统性风险。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0" y="5461000"/>
            <a:ext cx="1219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逻辑越具体，越容易知道什么时候错了。</a:t>
            </a:r>
            <a:endParaRPr lang="zh-CN" altLang="en-US" sz="20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800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第二步：给每条逻辑设置失效条件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270000" y="22098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52600" y="2235200"/>
            <a:ext cx="167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月线失效：</a:t>
            </a:r>
            <a:endParaRPr lang="zh-CN" altLang="en-US" sz="17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403600" y="2235200"/>
            <a:ext cx="751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跌破 </a:t>
            </a:r>
            <a:r>
              <a:rPr lang="en-US" altLang="zh-CN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月线且无法收回，长期趋势假设不再成立。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70000" y="3048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52600" y="3073400"/>
            <a:ext cx="167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周线失效：</a:t>
            </a:r>
            <a:endParaRPr lang="zh-CN" altLang="en-US" sz="17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403600" y="3073400"/>
            <a:ext cx="751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周收盘跌破关键支撑，波段持有逻辑降级。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270000" y="38862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52600" y="3911600"/>
            <a:ext cx="167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日线失效：</a:t>
            </a:r>
            <a:endParaRPr lang="zh-CN" altLang="en-US" sz="17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403600" y="3911600"/>
            <a:ext cx="751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放量突破后缩量跌回平台，突破真实性被证伪。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270000" y="47244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752600" y="4749800"/>
            <a:ext cx="1676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板块失效：</a:t>
            </a:r>
            <a:endParaRPr lang="zh-CN" altLang="en-US" sz="17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403600" y="4749800"/>
            <a:ext cx="751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板块指数持续走弱，个股相对强度消失。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721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第三步：分层应对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39800" y="1371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不要把所有波动都当成卖出信号。</a:t>
            </a:r>
            <a:endParaRPr lang="zh-CN" altLang="en-US" sz="14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117600" y="2387600"/>
            <a:ext cx="3111500" cy="2667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422400" y="28194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FFCD5C"/>
                </a:solidFill>
                <a:latin typeface="Microsoft YaHei" panose="020B0503020204020204" pitchFamily="34" charset="-122"/>
              </a:rPr>
              <a:t>轻微异常</a:t>
            </a:r>
            <a:endParaRPr lang="zh-CN" altLang="en-US" sz="2200" b="1">
              <a:solidFill>
                <a:srgbClr val="FFC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422400" y="3454400"/>
            <a:ext cx="241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减仓观察</a:t>
            </a:r>
            <a:endParaRPr lang="zh-CN" altLang="en-US" sz="26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422400" y="41402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日线走弱，但周线结构还没有破坏。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4826000" y="2387600"/>
            <a:ext cx="3111500" cy="2667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130800" y="28194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FF5E66"/>
                </a:solidFill>
                <a:latin typeface="Microsoft YaHei" panose="020B0503020204020204" pitchFamily="34" charset="-122"/>
              </a:rPr>
              <a:t>关键位失守</a:t>
            </a:r>
            <a:endParaRPr lang="zh-CN" altLang="en-US" sz="2200" b="1">
              <a:solidFill>
                <a:srgbClr val="FF5E6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130800" y="3454400"/>
            <a:ext cx="241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执行止损</a:t>
            </a:r>
            <a:endParaRPr lang="zh-CN" altLang="en-US" sz="26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130800" y="41402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收盘跌破预设支撑，原交易逻辑被证伪。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534400" y="2387600"/>
            <a:ext cx="3111500" cy="2667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839200" y="28194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FF5E66"/>
                </a:solidFill>
                <a:latin typeface="Microsoft YaHei" panose="020B0503020204020204" pitchFamily="34" charset="-122"/>
              </a:rPr>
              <a:t>逻辑完全反向</a:t>
            </a:r>
            <a:endParaRPr lang="zh-CN" altLang="en-US" sz="2200" b="1">
              <a:solidFill>
                <a:srgbClr val="FF5E6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839200" y="3454400"/>
            <a:ext cx="241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清仓停手</a:t>
            </a:r>
            <a:endParaRPr lang="zh-CN" altLang="en-US" sz="26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839200" y="41402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周期、结构、板块同时转弱，禁止补仓摊平。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399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第四步：交易前预案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39800" y="1371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买入前先回答四个问题。</a:t>
            </a:r>
            <a:endParaRPr lang="zh-CN" altLang="en-US" sz="14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320800" y="21336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06600" y="21336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我为什么买？</a:t>
            </a:r>
            <a:endParaRPr lang="zh-CN" altLang="en-US" sz="21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651500" y="21590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明确方向、周期、结构和资金依据。</a:t>
            </a:r>
            <a:endParaRPr lang="zh-CN" altLang="en-US" sz="17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320800" y="30480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006600" y="3048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我错在哪里会被证明？</a:t>
            </a:r>
            <a:endParaRPr lang="zh-CN" altLang="en-US" sz="21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651500" y="30734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写出可观察、可执行的证伪条件。</a:t>
            </a:r>
            <a:endParaRPr lang="zh-CN" altLang="en-US" sz="17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20800" y="39624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006600" y="39624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如果错了，在哪里退出？</a:t>
            </a:r>
            <a:endParaRPr lang="zh-CN" altLang="en-US" sz="21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651500" y="39878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提前定好关键位和收盘确认规则。</a:t>
            </a:r>
            <a:endParaRPr lang="zh-CN" altLang="en-US" sz="17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20800" y="48768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006600" y="48768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DEE8F6"/>
                </a:solidFill>
                <a:latin typeface="Microsoft YaHei" panose="020B0503020204020204" pitchFamily="34" charset="-122"/>
              </a:rPr>
              <a:t>如果对了，如何处理？</a:t>
            </a:r>
            <a:endParaRPr lang="zh-CN" altLang="en-US" sz="2100" b="1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51500" y="49022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设计加仓、止盈和持有条件。</a:t>
            </a:r>
            <a:endParaRPr lang="zh-CN" altLang="en-US" sz="17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003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用收盘确认减少噪音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39800" y="1371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尤其在 </a:t>
            </a:r>
            <a:r>
              <a:rPr lang="en-US" altLang="zh-CN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A </a:t>
            </a:r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股 </a:t>
            </a:r>
            <a:r>
              <a:rPr lang="en-US" altLang="zh-CN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T+1 </a:t>
            </a:r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环境中，盘中波动不能替代确认。</a:t>
            </a:r>
            <a:endParaRPr lang="zh-CN" altLang="en-US" sz="14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1168400" y="2413000"/>
            <a:ext cx="2984500" cy="2286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447800" y="26670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D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447800" y="3302000"/>
            <a:ext cx="2425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日线级别</a:t>
            </a:r>
            <a:endParaRPr lang="zh-CN" altLang="en-US" sz="21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447800" y="3886200"/>
            <a:ext cx="24257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看当日收盘是否收回关键位，避免被盘中假跌破带偏。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4610100" y="2413000"/>
            <a:ext cx="2984500" cy="2286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4889500" y="26670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W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889500" y="3302000"/>
            <a:ext cx="2425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周线级别</a:t>
            </a:r>
            <a:endParaRPr lang="zh-CN" altLang="en-US" sz="21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889500" y="3886200"/>
            <a:ext cx="24257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看周五收盘是否守住支撑，决定波段逻辑是否延续。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051800" y="2413000"/>
            <a:ext cx="2984500" cy="2286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331200" y="2667000"/>
            <a:ext cx="53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M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331200" y="3302000"/>
            <a:ext cx="2425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月线级别</a:t>
            </a:r>
            <a:endParaRPr lang="zh-CN" altLang="en-US" sz="21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31200" y="3886200"/>
            <a:ext cx="24257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看月末是否维持趋势结构，用来判断长期生态是否改变。</a:t>
            </a:r>
            <a:endParaRPr lang="zh-CN" altLang="en-US" sz="16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665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0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1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4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8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58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60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3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176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684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50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01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254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5080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5588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6604000"/>
            <a:ext cx="12192000" cy="0"/>
          </a:xfrm>
          <a:prstGeom prst="line">
            <a:avLst/>
          </a:prstGeom>
          <a:ln w="6350" cap="flat" cmpd="sng" algn="ctr">
            <a:solidFill>
              <a:srgbClr val="122A4C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09600" y="6096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914400" y="5842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一页执行清单</a:t>
            </a:r>
            <a:endParaRPr lang="zh-CN" altLang="en-US" sz="3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39800" y="13716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91A0B8"/>
                </a:solidFill>
                <a:latin typeface="Microsoft YaHei" panose="020B0503020204020204" pitchFamily="34" charset="-122"/>
              </a:rPr>
              <a:t>把系统落到每一笔交易。</a:t>
            </a:r>
            <a:endParaRPr lang="zh-CN" altLang="en-US" sz="1400">
              <a:solidFill>
                <a:srgbClr val="91A0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905000" y="2235200"/>
            <a:ext cx="355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413000" y="22733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买入理由写成具体条件，而不是一句感觉</a:t>
            </a:r>
            <a:endParaRPr lang="zh-CN" altLang="en-US" sz="19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905000" y="2971800"/>
            <a:ext cx="355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413000" y="30099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每条理由都有对应的证伪条件</a:t>
            </a:r>
            <a:endParaRPr lang="zh-CN" altLang="en-US" sz="19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905000" y="3708400"/>
            <a:ext cx="355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13000" y="37465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轻微异常、关键失守、完全反向分层处理</a:t>
            </a:r>
            <a:endParaRPr lang="zh-CN" altLang="en-US" sz="19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905000" y="4445000"/>
            <a:ext cx="355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413000" y="44831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买入前写好退出位和确认周期</a:t>
            </a:r>
            <a:endParaRPr lang="zh-CN" altLang="en-US" sz="19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905000" y="5181600"/>
            <a:ext cx="355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413000" y="5219700"/>
            <a:ext cx="7747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smtClean="0">
                <a:solidFill>
                  <a:srgbClr val="DEE8F6"/>
                </a:solidFill>
                <a:latin typeface="Microsoft YaHei" panose="020B0503020204020204" pitchFamily="34" charset="-122"/>
              </a:rPr>
              <a:t>看错时亏得可控，看对时拿得住</a:t>
            </a:r>
            <a:endParaRPr lang="zh-CN" altLang="en-US" sz="1900">
              <a:solidFill>
                <a:srgbClr val="DE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0" y="586740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成熟系统的目标不是每次看对，而是看错时有规则。</a:t>
            </a:r>
            <a:endParaRPr lang="zh-CN" altLang="en-US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13284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E6482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000">
              <a:solidFill>
                <a:srgbClr val="4E64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907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自定义</PresentationFormat>
  <Paragraphs>91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DoubleOX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CodexSandboxOffline</dc:creator>
  <cp:lastModifiedBy>CodexSandboxOffline</cp:lastModifiedBy>
  <cp:revision>1</cp:revision>
  <dcterms:created xsi:type="dcterms:W3CDTF">2026-07-01T00:28:49Z</dcterms:created>
  <dcterms:modified xsi:type="dcterms:W3CDTF">2026-07-01T00:28:50Z</dcterms:modified>
</cp:coreProperties>
</file>