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" y="1499616"/>
            <a:ext cx="7863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2A3A"/>
                </a:solidFill>
                <a:latin typeface="Microsoft YaHei"/>
              </a:rPr>
              <a:t>逻辑证伪应对系统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" y="2185416"/>
            <a:ext cx="7863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6B1A6"/>
                </a:solidFill>
                <a:latin typeface="Microsoft YaHei"/>
              </a:rPr>
              <a:t>股票交易执行清单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00400"/>
            <a:ext cx="78638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57487"/>
                </a:solidFill>
                <a:latin typeface="Microsoft YaHei"/>
              </a:rPr>
              <a:t>不是每次看对，而是看错时有规则、亏得可控、看对时拿得住。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59952" y="1499616"/>
            <a:ext cx="1901952" cy="2916936"/>
          </a:xfrm>
          <a:prstGeom prst="roundRect">
            <a:avLst/>
          </a:prstGeom>
          <a:solidFill>
            <a:srgbClr val="E8F9F6"/>
          </a:solidFill>
          <a:ln w="12700">
            <a:solidFill>
              <a:srgbClr val="CC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16568" y="2130552"/>
            <a:ext cx="1188720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6B1A6"/>
                </a:solidFill>
                <a:latin typeface="Microsoft YaHei"/>
              </a:rPr>
              <a:t>v2
执行
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572000"/>
            <a:ext cx="7114032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6B1A6"/>
                </a:solidFill>
                <a:latin typeface="Microsoft YaHei"/>
              </a:rPr>
              <a:t>把预测转化为预案，把情绪转化为规则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345936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0AEC0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12648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C2A3A"/>
                </a:solidFill>
                <a:latin typeface="Microsoft YaHei"/>
              </a:rPr>
              <a:t>一、交易前总原则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16736"/>
            <a:ext cx="685800" cy="5486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7223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RULES BEFORE TRADE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2130552"/>
            <a:ext cx="4828032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96696" y="2340864"/>
            <a:ext cx="365760" cy="384048"/>
          </a:xfrm>
          <a:prstGeom prst="roundRect">
            <a:avLst/>
          </a:prstGeom>
          <a:solidFill>
            <a:srgbClr val="E9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386584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6B1A6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3017520"/>
            <a:ext cx="43708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2A3A"/>
                </a:solidFill>
                <a:latin typeface="Microsoft YaHei"/>
              </a:rPr>
              <a:t>预测 → 预案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3557016"/>
            <a:ext cx="4370832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不凭感觉下单，买入前先写可检验条件。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130552"/>
            <a:ext cx="4828032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2340864"/>
            <a:ext cx="365760" cy="384048"/>
          </a:xfrm>
          <a:prstGeom prst="roundRect">
            <a:avLst/>
          </a:prstGeom>
          <a:solidFill>
            <a:srgbClr val="E9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386584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6B1A6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017520"/>
            <a:ext cx="43708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2A3A"/>
                </a:solidFill>
                <a:latin typeface="Microsoft YaHei"/>
              </a:rPr>
              <a:t>情绪 → 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557016"/>
            <a:ext cx="4370832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盘中波动不替代确认，按预设规则执行。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4261104"/>
            <a:ext cx="4828032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6696" y="4471416"/>
            <a:ext cx="365760" cy="384048"/>
          </a:xfrm>
          <a:prstGeom prst="roundRect">
            <a:avLst/>
          </a:prstGeom>
          <a:solidFill>
            <a:srgbClr val="E9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17136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6B1A6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" y="5148072"/>
            <a:ext cx="43708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2A3A"/>
                </a:solidFill>
                <a:latin typeface="Microsoft YaHei"/>
              </a:rPr>
              <a:t>逻辑证伪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" y="5687568"/>
            <a:ext cx="4370832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买入理由被推翻就退出，而非固定比例止损。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4261104"/>
            <a:ext cx="4828032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0" y="4471416"/>
            <a:ext cx="365760" cy="384048"/>
          </a:xfrm>
          <a:prstGeom prst="roundRect">
            <a:avLst/>
          </a:prstGeom>
          <a:solidFill>
            <a:srgbClr val="E9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517136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6B1A6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148072"/>
            <a:ext cx="43708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2A3A"/>
                </a:solidFill>
                <a:latin typeface="Microsoft YaHei"/>
              </a:rPr>
              <a:t>A 股 T+1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5687568"/>
            <a:ext cx="4370832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以收盘确认为准，盘中假突破/假跌破不算数。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28832" y="6345936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0AEC0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12648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C2A3A"/>
                </a:solidFill>
                <a:latin typeface="Microsoft YaHei"/>
              </a:rPr>
              <a:t>二、买入前 · Q1 我为什么买？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16736"/>
            <a:ext cx="685800" cy="5486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7223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禁止写「感觉看涨」，必须写可检验条件。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2258568"/>
            <a:ext cx="2542032" cy="1728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96696" y="2468880"/>
            <a:ext cx="365760" cy="384048"/>
          </a:xfrm>
          <a:prstGeom prst="roundRect">
            <a:avLst/>
          </a:prstGeom>
          <a:solidFill>
            <a:srgbClr val="E9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514600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6B1A6"/>
                </a:solidFill>
                <a:latin typeface="Microsoft YaHei"/>
              </a:rPr>
              <a:t>周期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3145536"/>
            <a:ext cx="20848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2A3A"/>
                </a:solidFill>
                <a:latin typeface="Microsoft YaHei"/>
              </a:rPr>
              <a:t>周期条件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3685032"/>
            <a:ext cx="2084832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月线趋势向上；周线回调至支撑位；日线放量确认。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93592" y="2258568"/>
            <a:ext cx="2542032" cy="1728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22192" y="2468880"/>
            <a:ext cx="365760" cy="384048"/>
          </a:xfrm>
          <a:prstGeom prst="roundRect">
            <a:avLst/>
          </a:prstGeom>
          <a:solidFill>
            <a:srgbClr val="E9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2" y="2514600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6B1A6"/>
                </a:solidFill>
                <a:latin typeface="Microsoft YaHei"/>
              </a:rPr>
              <a:t>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2" y="3145536"/>
            <a:ext cx="20848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2A3A"/>
                </a:solidFill>
                <a:latin typeface="Microsoft YaHei"/>
              </a:rPr>
              <a:t>结构条件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2" y="3685032"/>
            <a:ext cx="2084832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价格站上关键均线/平台/趋势线；支撑与阻力位置清晰。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8232" y="2258568"/>
            <a:ext cx="2542032" cy="1728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56832" y="2468880"/>
            <a:ext cx="365760" cy="384048"/>
          </a:xfrm>
          <a:prstGeom prst="roundRect">
            <a:avLst/>
          </a:prstGeom>
          <a:solidFill>
            <a:srgbClr val="E9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2514600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6B1A6"/>
                </a:solidFill>
                <a:latin typeface="Microsoft YaHei"/>
              </a:rPr>
              <a:t>环境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3145536"/>
            <a:ext cx="20848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2A3A"/>
                </a:solidFill>
                <a:latin typeface="Microsoft YaHei"/>
              </a:rPr>
              <a:t>环境条件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3685032"/>
            <a:ext cx="2084832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板块资金仍在流入；大盘无系统性风险。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727448"/>
            <a:ext cx="10360152" cy="658368"/>
          </a:xfrm>
          <a:prstGeom prst="roundRect">
            <a:avLst/>
          </a:prstGeom>
          <a:solidFill>
            <a:srgbClr val="F0FBF9"/>
          </a:solidFill>
          <a:ln w="12700">
            <a:solidFill>
              <a:srgbClr val="CF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928616"/>
            <a:ext cx="9756648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C2A3A"/>
                </a:solidFill>
                <a:latin typeface="Microsoft YaHei"/>
              </a:rPr>
              <a:t>买入理由汇总（一句话）：_______________________________________________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28832" y="6345936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0AEC0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12648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C2A3A"/>
                </a:solidFill>
                <a:latin typeface="Microsoft YaHei"/>
              </a:rPr>
              <a:t>二、买入前 · Q2 证伪条件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16736"/>
            <a:ext cx="685800" cy="5486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7223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每条买入理由，都必须有对应、可观察、可执行的失效条件。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130552"/>
            <a:ext cx="2157984" cy="484632"/>
          </a:xfrm>
          <a:prstGeom prst="rect">
            <a:avLst/>
          </a:prstGeom>
          <a:solidFill>
            <a:srgbClr val="F0F7FA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231136"/>
            <a:ext cx="1901952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A3A"/>
                </a:solidFill>
                <a:latin typeface="Microsoft YaHei"/>
              </a:rPr>
              <a:t>买入理由</a:t>
            </a:r>
          </a:p>
        </p:txBody>
      </p:sp>
      <p:sp>
        <p:nvSpPr>
          <p:cNvPr id="8" name="Rectangle 7"/>
          <p:cNvSpPr/>
          <p:nvPr/>
        </p:nvSpPr>
        <p:spPr>
          <a:xfrm>
            <a:off x="3054096" y="2130552"/>
            <a:ext cx="5458968" cy="484632"/>
          </a:xfrm>
          <a:prstGeom prst="rect">
            <a:avLst/>
          </a:prstGeom>
          <a:solidFill>
            <a:srgbClr val="F0F7FA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82112" y="2231136"/>
            <a:ext cx="520293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A3A"/>
                </a:solidFill>
                <a:latin typeface="Microsoft YaHei"/>
              </a:rPr>
              <a:t>对应证伪条件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67928" y="2130552"/>
            <a:ext cx="1399032" cy="484632"/>
          </a:xfrm>
          <a:prstGeom prst="rect">
            <a:avLst/>
          </a:prstGeom>
          <a:solidFill>
            <a:srgbClr val="F0F7FA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95944" y="2231136"/>
            <a:ext cx="114300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A3A"/>
                </a:solidFill>
                <a:latin typeface="Microsoft YaHei"/>
              </a:rPr>
              <a:t>确认周期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670048"/>
            <a:ext cx="215798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770632"/>
            <a:ext cx="19019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57487"/>
                </a:solidFill>
                <a:latin typeface="Microsoft YaHei"/>
              </a:rPr>
              <a:t>月线趋势向上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2670048"/>
            <a:ext cx="54589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2770632"/>
            <a:ext cx="5202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57487"/>
                </a:solidFill>
                <a:latin typeface="Microsoft YaHei"/>
              </a:rPr>
              <a:t>跌破 20 月线且收盘无法收回 → 长期趋势假设不成立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67928" y="2670048"/>
            <a:ext cx="13990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95944" y="2770632"/>
            <a:ext cx="1143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57487"/>
                </a:solidFill>
                <a:latin typeface="Microsoft YaHei"/>
              </a:rPr>
              <a:t>月末收盘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255264"/>
            <a:ext cx="215798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355848"/>
            <a:ext cx="19019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57487"/>
                </a:solidFill>
                <a:latin typeface="Microsoft YaHei"/>
              </a:rPr>
              <a:t>周线回调支撑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54096" y="3255264"/>
            <a:ext cx="54589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3355848"/>
            <a:ext cx="5202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57487"/>
                </a:solidFill>
                <a:latin typeface="Microsoft YaHei"/>
              </a:rPr>
              <a:t>周收盘跌破关键支撑 → 波段持有逻辑降级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67928" y="3255264"/>
            <a:ext cx="13990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95944" y="3355848"/>
            <a:ext cx="1143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57487"/>
                </a:solidFill>
                <a:latin typeface="Microsoft YaHei"/>
              </a:rPr>
              <a:t>周五收盘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3840480"/>
            <a:ext cx="215798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3941064"/>
            <a:ext cx="19019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57487"/>
                </a:solidFill>
                <a:latin typeface="Microsoft YaHei"/>
              </a:rPr>
              <a:t>日线放量确认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54096" y="3840480"/>
            <a:ext cx="54589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82112" y="3941064"/>
            <a:ext cx="5202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57487"/>
                </a:solidFill>
                <a:latin typeface="Microsoft YaHei"/>
              </a:rPr>
              <a:t>放量突破后缩量跌回平台 → 突破真实性被证伪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67928" y="3840480"/>
            <a:ext cx="13990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95944" y="3941064"/>
            <a:ext cx="1143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57487"/>
                </a:solidFill>
                <a:latin typeface="Microsoft YaHei"/>
              </a:rPr>
              <a:t>日收盘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" y="4425696"/>
            <a:ext cx="215798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4526280"/>
            <a:ext cx="19019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57487"/>
                </a:solidFill>
                <a:latin typeface="Microsoft YaHei"/>
              </a:rPr>
              <a:t>板块资金流入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54096" y="4425696"/>
            <a:ext cx="54589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82112" y="4526280"/>
            <a:ext cx="5202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57487"/>
                </a:solidFill>
                <a:latin typeface="Microsoft YaHei"/>
              </a:rPr>
              <a:t>板块指数持续走弱，个股相对强度消失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67928" y="4425696"/>
            <a:ext cx="13990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95944" y="4526280"/>
            <a:ext cx="1143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57487"/>
                </a:solidFill>
                <a:latin typeface="Microsoft YaHei"/>
              </a:rPr>
              <a:t>日/周收盘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458968"/>
            <a:ext cx="10360152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B1A6"/>
                </a:solidFill>
                <a:latin typeface="Microsoft YaHei"/>
              </a:rPr>
              <a:t>我的证伪条件汇总：1. ________  2. ________  3. ________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28832" y="6345936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0AEC0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12648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C2A3A"/>
                </a:solidFill>
                <a:latin typeface="Microsoft YaHei"/>
              </a:rPr>
              <a:t>二、买入前 · Q3 / Q4 退出与持有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16736"/>
            <a:ext cx="685800" cy="5486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7223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错了在哪里退？对了如何加/持/止盈？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2130552"/>
            <a:ext cx="4956048" cy="3557016"/>
          </a:xfrm>
          <a:prstGeom prst="roundRect">
            <a:avLst/>
          </a:prstGeom>
          <a:solidFill>
            <a:srgbClr val="FFF7F7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86584"/>
            <a:ext cx="431596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4525C"/>
                </a:solidFill>
                <a:latin typeface="Microsoft YaHei"/>
              </a:rPr>
              <a:t>Q3  如果错了，在哪里退出？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944368"/>
            <a:ext cx="431596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关键止损位（结构支撑/均线/平台下沿）：________ 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502152"/>
            <a:ext cx="431596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确认周期（日/周/月收盘）：________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059936"/>
            <a:ext cx="431596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触发后动作（减仓 / 清仓 / 停手）：________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17720"/>
            <a:ext cx="431596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最大可接受亏损（金额或仓位比例）：________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2130552"/>
            <a:ext cx="4956048" cy="3557016"/>
          </a:xfrm>
          <a:prstGeom prst="roundRect">
            <a:avLst/>
          </a:prstGeom>
          <a:solidFill>
            <a:srgbClr val="F0FBF9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2386584"/>
            <a:ext cx="431596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B1A6"/>
                </a:solidFill>
                <a:latin typeface="Microsoft YaHei"/>
              </a:rPr>
              <a:t>Q4  如果对了，如何处理？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944368"/>
            <a:ext cx="431596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加仓条件（例：回踩支撑 + 放量再启）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3502152"/>
            <a:ext cx="431596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止盈条件（例：到达前高/乖离过大/结构转弱）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059936"/>
            <a:ext cx="431596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持有条件（例：周线结构未破坏则继续持有）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4617720"/>
            <a:ext cx="431596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是否允许补仓摊平：□ 允许  □ 禁止（逻辑完全反向时）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28832" y="6345936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0AEC0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12648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C2A3A"/>
                </a:solidFill>
                <a:latin typeface="Microsoft YaHei"/>
              </a:rPr>
              <a:t>三、分层应对规则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16736"/>
            <a:ext cx="685800" cy="5486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7223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不要把所有波动都当成卖出信号。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58568"/>
            <a:ext cx="3108960" cy="2798064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715768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6A22D"/>
                </a:solidFill>
                <a:latin typeface="Microsoft YaHei"/>
              </a:rPr>
              <a:t>轻微异常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374136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C2A3A"/>
                </a:solidFill>
                <a:latin typeface="Microsoft YaHei"/>
              </a:rPr>
              <a:t>减仓观察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4114800"/>
            <a:ext cx="235915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日线走弱，但周线结构尚未破坏。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1" y="2258568"/>
            <a:ext cx="3108960" cy="2798064"/>
          </a:xfrm>
          <a:prstGeom prst="roundRect">
            <a:avLst/>
          </a:prstGeom>
          <a:solidFill>
            <a:srgbClr val="FFF7F7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2895" y="2715768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4525C"/>
                </a:solidFill>
                <a:latin typeface="Microsoft YaHei"/>
              </a:rPr>
              <a:t>关键位失守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5" y="3374136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C2A3A"/>
                </a:solidFill>
                <a:latin typeface="Microsoft YaHei"/>
              </a:rPr>
              <a:t>执行止损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5" y="4114800"/>
            <a:ext cx="235915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收盘跌破预设支撑，原交易逻辑被证伪。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4" y="2258568"/>
            <a:ext cx="3108960" cy="2798064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58" y="2715768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16DDD"/>
                </a:solidFill>
                <a:latin typeface="Microsoft YaHei"/>
              </a:rPr>
              <a:t>逻辑完全反向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8" y="3374136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C2A3A"/>
                </a:solidFill>
                <a:latin typeface="Microsoft YaHei"/>
              </a:rPr>
              <a:t>清仓停手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8" y="4114800"/>
            <a:ext cx="235915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周期 + 结构 + 板块同时转弱，禁止补仓摊平。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28832" y="6345936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0AEC0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12648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C2A3A"/>
                </a:solidFill>
                <a:latin typeface="Microsoft YaHei"/>
              </a:rPr>
              <a:t>四、收盘确认规则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16736"/>
            <a:ext cx="685800" cy="5486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7223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减少噪音 — A 股 T+1 以收盘为准。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58568"/>
            <a:ext cx="2313432" cy="1773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468880"/>
            <a:ext cx="365760" cy="384048"/>
          </a:xfrm>
          <a:prstGeom prst="roundRect">
            <a:avLst/>
          </a:prstGeom>
          <a:solidFill>
            <a:srgbClr val="E9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14600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6B1A6"/>
                </a:solidFill>
                <a:latin typeface="Microsoft YaHei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45536"/>
            <a:ext cx="18562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2A3A"/>
                </a:solidFill>
                <a:latin typeface="Microsoft YaHei"/>
              </a:rPr>
              <a:t>D  日线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685032"/>
            <a:ext cx="18562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当日收盘是否收回/守住关键位，避免被盘中假跌破带偏。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12463" y="2258568"/>
            <a:ext cx="2313432" cy="1773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41063" y="2468880"/>
            <a:ext cx="365760" cy="384048"/>
          </a:xfrm>
          <a:prstGeom prst="roundRect">
            <a:avLst/>
          </a:prstGeom>
          <a:solidFill>
            <a:srgbClr val="E9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41063" y="2514600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6B1A6"/>
                </a:solidFill>
                <a:latin typeface="Microsoft YaHei"/>
              </a:rPr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1063" y="3145536"/>
            <a:ext cx="18562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2A3A"/>
                </a:solidFill>
                <a:latin typeface="Microsoft YaHei"/>
              </a:rPr>
              <a:t>W  周线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1063" y="3685032"/>
            <a:ext cx="18562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周五收盘是否守住支撑，决定波段逻辑是否延续。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01384" y="2258568"/>
            <a:ext cx="2313432" cy="1773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29984" y="2468880"/>
            <a:ext cx="365760" cy="384048"/>
          </a:xfrm>
          <a:prstGeom prst="roundRect">
            <a:avLst/>
          </a:prstGeom>
          <a:solidFill>
            <a:srgbClr val="E9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9984" y="2514600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6B1A6"/>
                </a:solidFill>
                <a:latin typeface="Microsoft YaHei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3145536"/>
            <a:ext cx="18562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2A3A"/>
                </a:solidFill>
                <a:latin typeface="Microsoft YaHei"/>
              </a:rPr>
              <a:t>M  月线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4" y="3685032"/>
            <a:ext cx="18562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月末是否维持趋势结构，判断长期生态是否改变。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5084064"/>
            <a:ext cx="12191695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B1A6"/>
                </a:solidFill>
                <a:latin typeface="Microsoft YaHei"/>
              </a:rPr>
              <a:t>本次交易主要参考周期：  □ 日线    □ 周线    □ 月线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8832" y="6345936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0AEC0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12648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C2A3A"/>
                </a:solidFill>
                <a:latin typeface="Microsoft YaHei"/>
              </a:rPr>
              <a:t>五、快速执行清单（上）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16736"/>
            <a:ext cx="685800" cy="5486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7223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买入前 · 买入时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1901952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B1A6"/>
                </a:solidFill>
                <a:latin typeface="Microsoft YaHei"/>
              </a:rPr>
              <a:t>【买入前】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450592"/>
            <a:ext cx="173736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386584"/>
            <a:ext cx="954633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A3A"/>
                </a:solidFill>
                <a:latin typeface="Microsoft YaHei"/>
              </a:rPr>
              <a:t>买入理由写成具体可检验条件，不是一句感觉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907792"/>
            <a:ext cx="173736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843784"/>
            <a:ext cx="954633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A3A"/>
                </a:solidFill>
                <a:latin typeface="Microsoft YaHei"/>
              </a:rPr>
              <a:t>每条买入理由都有对应的证伪条件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364992"/>
            <a:ext cx="173736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300984"/>
            <a:ext cx="954633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A3A"/>
                </a:solidFill>
                <a:latin typeface="Microsoft YaHei"/>
              </a:rPr>
              <a:t>已预设退出位和确认周期（日/周/月）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822192"/>
            <a:ext cx="173736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7864" y="3758184"/>
            <a:ext cx="954633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A3A"/>
                </a:solidFill>
                <a:latin typeface="Microsoft YaHei"/>
              </a:rPr>
              <a:t>已设计看对时的加仓/止盈/持有规则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4279392"/>
            <a:ext cx="173736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4215384"/>
            <a:ext cx="954633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A3A"/>
                </a:solidFill>
                <a:latin typeface="Microsoft YaHei"/>
              </a:rPr>
              <a:t>已明确最大可接受亏损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800600"/>
            <a:ext cx="1901952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B1A6"/>
                </a:solidFill>
                <a:latin typeface="Microsoft YaHei"/>
              </a:rPr>
              <a:t>【买入时】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5193792"/>
            <a:ext cx="173736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" y="5129784"/>
            <a:ext cx="954633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A3A"/>
                </a:solidFill>
                <a:latin typeface="Microsoft YaHei"/>
              </a:rPr>
              <a:t>股票代码/名称：________  买入价：________  仓位：________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5650992"/>
            <a:ext cx="173736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7864" y="5586984"/>
            <a:ext cx="954633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A3A"/>
                </a:solidFill>
                <a:latin typeface="Microsoft YaHei"/>
              </a:rPr>
              <a:t>买入日期：________  计划持有周期：________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8832" y="6345936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0AEC0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12648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C2A3A"/>
                </a:solidFill>
                <a:latin typeface="Microsoft YaHei"/>
              </a:rPr>
              <a:t>五、快速执行清单（下）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16736"/>
            <a:ext cx="685800" cy="5486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7223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持仓中 · 收盘后复盘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342900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B1A6"/>
                </a:solidFill>
                <a:latin typeface="Microsoft YaHei"/>
              </a:rPr>
              <a:t>【持仓中 · 每日/每周检查】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450592"/>
            <a:ext cx="173736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386584"/>
            <a:ext cx="954633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A3A"/>
                </a:solidFill>
                <a:latin typeface="Microsoft YaHei"/>
              </a:rPr>
              <a:t>是否出现轻微异常？→ 减仓观察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907792"/>
            <a:ext cx="173736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843784"/>
            <a:ext cx="954633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A3A"/>
                </a:solidFill>
                <a:latin typeface="Microsoft YaHei"/>
              </a:rPr>
              <a:t>是否关键位失守（收盘确认）？→ 执行止损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364992"/>
            <a:ext cx="173736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300984"/>
            <a:ext cx="954633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A3A"/>
                </a:solidFill>
                <a:latin typeface="Microsoft YaHei"/>
              </a:rPr>
              <a:t>是否逻辑完全反向？→ 清仓停手，禁止摊平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886200"/>
            <a:ext cx="342900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B1A6"/>
                </a:solidFill>
                <a:latin typeface="Microsoft YaHei"/>
              </a:rPr>
              <a:t>【收盘后复盘】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4279392"/>
            <a:ext cx="173736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4215384"/>
            <a:ext cx="954633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A3A"/>
                </a:solidFill>
                <a:latin typeface="Microsoft YaHei"/>
              </a:rPr>
              <a:t>今日/本周收盘是否触发证伪条件？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736592"/>
            <a:ext cx="173736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4672584"/>
            <a:ext cx="954633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A3A"/>
                </a:solidFill>
                <a:latin typeface="Microsoft YaHei"/>
              </a:rPr>
              <a:t>是否严格执行预案？（严格执行 / 偏差较大）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5193792"/>
            <a:ext cx="173736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" y="5129784"/>
            <a:ext cx="954633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A3A"/>
                </a:solidFill>
                <a:latin typeface="Microsoft YaHei"/>
              </a:rPr>
              <a:t>是否有情绪化操作？（无 / 轻微 / 严重）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5650992"/>
            <a:ext cx="173736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7864" y="5586984"/>
            <a:ext cx="954633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A3A"/>
                </a:solidFill>
                <a:latin typeface="Microsoft YaHei"/>
              </a:rPr>
              <a:t>交易结果总结：_______________________________________________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8832" y="6345936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0AEC0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12648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C2A3A"/>
                </a:solidFill>
                <a:latin typeface="Microsoft YaHei"/>
              </a:rPr>
              <a:t>六、单笔交易记录模板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16736"/>
            <a:ext cx="685800" cy="5486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7223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57487"/>
                </a:solidFill>
                <a:latin typeface="Microsoft YaHei"/>
              </a:rPr>
              <a:t>打印或手填，形成可追溯的交易档案。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" y="2029968"/>
            <a:ext cx="9857232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157984"/>
            <a:ext cx="301752" cy="301752"/>
          </a:xfrm>
          <a:prstGeom prst="ellipse">
            <a:avLst/>
          </a:prstGeom>
          <a:solidFill>
            <a:srgbClr val="16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03704"/>
            <a:ext cx="301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2130552"/>
            <a:ext cx="1426464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A"/>
                </a:solidFill>
                <a:latin typeface="Microsoft YaHei"/>
              </a:rPr>
              <a:t>买入理由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7016" y="2139696"/>
            <a:ext cx="6729984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周期 / 结构 / 环境 — 各写一条可检验条件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" y="2770632"/>
            <a:ext cx="9857232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3000" y="2898648"/>
            <a:ext cx="301752" cy="301752"/>
          </a:xfrm>
          <a:prstGeom prst="ellipse">
            <a:avLst/>
          </a:prstGeom>
          <a:solidFill>
            <a:srgbClr val="16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944368"/>
            <a:ext cx="301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2871216"/>
            <a:ext cx="1426464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A"/>
                </a:solidFill>
                <a:latin typeface="Microsoft YaHei"/>
              </a:rPr>
              <a:t>证伪条件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880360"/>
            <a:ext cx="6729984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1. ________ → 动作：________   2. ________   3. ________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" y="3511296"/>
            <a:ext cx="9857232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3000" y="3639312"/>
            <a:ext cx="301752" cy="301752"/>
          </a:xfrm>
          <a:prstGeom prst="ellipse">
            <a:avLst/>
          </a:prstGeom>
          <a:solidFill>
            <a:srgbClr val="16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685032"/>
            <a:ext cx="301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3611880"/>
            <a:ext cx="1426464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A"/>
                </a:solidFill>
                <a:latin typeface="Microsoft YaHei"/>
              </a:rPr>
              <a:t>交易参数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016" y="3621024"/>
            <a:ext cx="6729984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买入价 / 仓位 / 止损位 / 确认周期（日·周·月）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" y="4251960"/>
            <a:ext cx="9857232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3000" y="4379976"/>
            <a:ext cx="301752" cy="301752"/>
          </a:xfrm>
          <a:prstGeom prst="ellipse">
            <a:avLst/>
          </a:prstGeom>
          <a:solidFill>
            <a:srgbClr val="16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425696"/>
            <a:ext cx="301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5064" y="4352544"/>
            <a:ext cx="1426464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A"/>
                </a:solidFill>
                <a:latin typeface="Microsoft YaHei"/>
              </a:rPr>
              <a:t>分层应对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6" y="4361688"/>
            <a:ext cx="6729984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轻微异常·减仓 | 关键失守·止损 | 完全反向·清仓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" y="4992624"/>
            <a:ext cx="9857232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3000" y="5120640"/>
            <a:ext cx="301752" cy="301752"/>
          </a:xfrm>
          <a:prstGeom prst="ellipse">
            <a:avLst/>
          </a:prstGeom>
          <a:solidFill>
            <a:srgbClr val="16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166360"/>
            <a:ext cx="301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5064" y="5093208"/>
            <a:ext cx="1426464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A"/>
                </a:solidFill>
                <a:latin typeface="Microsoft YaHei"/>
              </a:rPr>
              <a:t>复盘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7016" y="5102352"/>
            <a:ext cx="6729984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57487"/>
                </a:solidFill>
                <a:latin typeface="Microsoft YaHei"/>
              </a:rPr>
              <a:t>严格执行：□是 □否   情绪化：□无 □轻微 □严重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28832" y="6345936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0AEC0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1A6"/>
          </a:solidFill>
          <a:ln w="12700">
            <a:solidFill>
              <a:srgbClr val="16B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27048" y="1773936"/>
            <a:ext cx="9144000" cy="2798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58568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6B1A6"/>
                </a:solidFill>
                <a:latin typeface="Microsoft YaHei"/>
              </a:rPr>
              <a:t>一句话总结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2898648"/>
            <a:ext cx="812901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C2A3A"/>
                </a:solidFill>
                <a:latin typeface="Microsoft YaHei"/>
              </a:rPr>
              <a:t>逻辑越具体，越容易知道什么时候错了；
看错时有规则，比每次看对更重要。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84064"/>
            <a:ext cx="12191695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657487"/>
                </a:solidFill>
                <a:latin typeface="Microsoft YaHei"/>
              </a:rPr>
              <a:t>系统目标：看错时有规则 · 亏得可控 · 看对时拿得住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45936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0AEC0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