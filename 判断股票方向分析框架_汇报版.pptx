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0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12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89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59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34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7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78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0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9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41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90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E7B4F-2853-4028-92A3-08BCFECEE8BA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AD251-1643-4B7A-A4D1-626283B5E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18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0" y="1473200"/>
            <a:ext cx="12192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4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判断股票方向</a:t>
            </a:r>
            <a:endParaRPr lang="zh-CN" altLang="en-US" sz="4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0" y="2852893"/>
            <a:ext cx="1219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dirty="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多维度技术分析与周期共振框架</a:t>
            </a:r>
            <a:endParaRPr lang="zh-CN" altLang="en-US" sz="2200" dirty="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0" y="3810001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建立专业、稳健的投资决策逻辑</a:t>
            </a:r>
            <a:endParaRPr lang="zh-CN" altLang="en-US" dirty="0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955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多维度分析体系概览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89000" y="2159000"/>
            <a:ext cx="2349500" cy="2794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168400" y="2489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≋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68400" y="3225800"/>
            <a:ext cx="1790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宏观与板块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168400" y="3835400"/>
            <a:ext cx="17907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先判断市场风向，再寻找景气度高、资金关注度高的核心赛道。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619500" y="2159000"/>
            <a:ext cx="2349500" cy="2794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898900" y="2489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⌁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898900" y="3225800"/>
            <a:ext cx="1790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技术与结构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898900" y="3835400"/>
            <a:ext cx="17907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dirty="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用趋势线、水平位、均线与形态，构建股价运行地图。</a:t>
            </a:r>
            <a:endParaRPr lang="zh-CN" altLang="en-US" sz="1700" dirty="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6350000" y="2159000"/>
            <a:ext cx="2349500" cy="2794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6629400" y="2489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▥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29400" y="3225800"/>
            <a:ext cx="1790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量价博弈</a:t>
            </a:r>
            <a:endParaRPr lang="zh-CN" altLang="en-US" sz="2200" b="1" dirty="0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629400" y="3835400"/>
            <a:ext cx="17907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dirty="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成交量验证价格运行的真实性，排除无量反弹和虚假突破。</a:t>
            </a:r>
            <a:endParaRPr lang="zh-CN" altLang="en-US" sz="1700" dirty="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9080500" y="2159000"/>
            <a:ext cx="2349500" cy="2794000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9359900" y="2489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◷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359900" y="3225800"/>
            <a:ext cx="17907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周期共振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359900" y="3835400"/>
            <a:ext cx="17907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把月线、周线、日线组合起来，统一全局方向与局部时机。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979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宏观环境与板块效应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先看大方向，再挑强赛道，最后落到个股。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914400" y="2413000"/>
            <a:ext cx="3213100" cy="2798192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1938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◎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1938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大盘趋势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938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上证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深成指是否处于上升通道？若市场在下降趋势中，应降低交易频率和仓位。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4508500" y="2412999"/>
            <a:ext cx="3111500" cy="2868713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47879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▰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7879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板块景气度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7879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所属行业是否处于政策风口或业绩释放期？板块向上是个股爆发的前提。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102600" y="2413000"/>
            <a:ext cx="3083264" cy="2868712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83820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↗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20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资金共识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3820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观察市场热线是否向该板块集中。板块效应越强，个股胜率越高。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30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技术结构与趋势线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寻找图表中的结构防线。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14400" y="2159000"/>
            <a:ext cx="4953000" cy="3238500"/>
          </a:xfrm>
          <a:prstGeom prst="rect">
            <a:avLst/>
          </a:prstGeom>
          <a:solidFill>
            <a:srgbClr val="F6F8FB"/>
          </a:solidFill>
          <a:ln w="12700" cap="flat" cmpd="sng" algn="ctr">
            <a:solidFill>
              <a:srgbClr val="3E577D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/>
        </p:nvCxnSpPr>
        <p:spPr>
          <a:xfrm>
            <a:off x="1041400" y="2794000"/>
            <a:ext cx="4699000" cy="0"/>
          </a:xfrm>
          <a:prstGeom prst="line">
            <a:avLst/>
          </a:prstGeom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041400" y="3429000"/>
            <a:ext cx="4699000" cy="0"/>
          </a:xfrm>
          <a:prstGeom prst="line">
            <a:avLst/>
          </a:prstGeom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041400" y="4064000"/>
            <a:ext cx="4699000" cy="0"/>
          </a:xfrm>
          <a:prstGeom prst="line">
            <a:avLst/>
          </a:prstGeom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1041400" y="4699000"/>
            <a:ext cx="4699000" cy="0"/>
          </a:xfrm>
          <a:prstGeom prst="line">
            <a:avLst/>
          </a:prstGeom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17600" y="3810000"/>
            <a:ext cx="533400" cy="3810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651000" y="3810000"/>
            <a:ext cx="533400" cy="2286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2184400" y="3429000"/>
            <a:ext cx="533400" cy="6096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2717800" y="3429000"/>
            <a:ext cx="533400" cy="1905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251200" y="3022600"/>
            <a:ext cx="533400" cy="5969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3784600" y="3022600"/>
            <a:ext cx="533400" cy="1778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4318000" y="2794000"/>
            <a:ext cx="533400" cy="4064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851400" y="2794000"/>
            <a:ext cx="609600" cy="152400"/>
          </a:xfrm>
          <a:prstGeom prst="line">
            <a:avLst/>
          </a:prstGeom>
          <a:ln w="25400">
            <a:solidFill>
              <a:srgbClr val="009B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168400" y="2730500"/>
            <a:ext cx="4292600" cy="1651000"/>
          </a:xfrm>
          <a:prstGeom prst="line">
            <a:avLst/>
          </a:prstGeom>
          <a:ln w="25400">
            <a:solidFill>
              <a:srgbClr val="FF4E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6604000" y="2286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7061200" y="2311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趋势线：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509000" y="2311400"/>
            <a:ext cx="2921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连接阶段性低点，划定多头生命线。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04000" y="29972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061200" y="3022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阻力</a:t>
            </a:r>
            <a:r>
              <a:rPr lang="en-US" altLang="zh-CN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支撑：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509000" y="3022600"/>
            <a:ext cx="2921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识别前期密集成交区、缺口和重要平台。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604000" y="37084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061200" y="3733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关键均线：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509000" y="3733800"/>
            <a:ext cx="2921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重点关注 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日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/60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日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/120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日均线的回踩力度。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604000" y="44196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061200" y="44450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右侧交易：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509000" y="4445000"/>
            <a:ext cx="2921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价格确认突破结构后再考虑介入，不接飞刀。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119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黄金分割与支撑位量化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用关键比例刻画回调深度。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714500" y="2387600"/>
            <a:ext cx="330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5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0.382</a:t>
            </a:r>
            <a:endParaRPr lang="zh-CN" altLang="en-US" sz="5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006600" y="3302000"/>
            <a:ext cx="304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强势回调位</a:t>
            </a:r>
            <a:endParaRPr lang="zh-CN" altLang="en-US" sz="20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714500" y="4191000"/>
            <a:ext cx="330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5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0.618</a:t>
            </a:r>
            <a:endParaRPr lang="zh-CN" altLang="en-US" sz="5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714500" y="5105400"/>
            <a:ext cx="330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核心支撑黄金位</a:t>
            </a:r>
            <a:endParaRPr lang="zh-CN" altLang="en-US" sz="20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603999" y="2235199"/>
            <a:ext cx="4661763" cy="3452913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84A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985000" y="2603500"/>
            <a:ext cx="393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Fibonacci Retracement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985000" y="3429000"/>
            <a:ext cx="381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测量前一波上涨的深度。若回调在 </a:t>
            </a:r>
            <a:r>
              <a:rPr lang="en-US" altLang="zh-CN" smtClean="0">
                <a:solidFill>
                  <a:srgbClr val="8E9DB7"/>
                </a:solidFill>
                <a:latin typeface="Microsoft YaHei" panose="020B0503020204020204" pitchFamily="34" charset="-122"/>
              </a:rPr>
              <a:t>0.5 </a:t>
            </a:r>
            <a:r>
              <a:rPr lang="zh-CN" altLang="en-US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以下止跌并放量，说明趋势仍强。</a:t>
            </a:r>
            <a:endParaRPr lang="zh-CN" altLang="en-US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985000" y="44450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P</a:t>
            </a:r>
            <a:r>
              <a:rPr lang="zh-CN" altLang="en-US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支撑 </a:t>
            </a:r>
            <a:r>
              <a:rPr lang="en-US" altLang="zh-CN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= P</a:t>
            </a:r>
            <a:r>
              <a:rPr lang="zh-CN" altLang="en-US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- (P</a:t>
            </a:r>
            <a:r>
              <a:rPr lang="zh-CN" altLang="en-US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- P</a:t>
            </a:r>
            <a:r>
              <a:rPr lang="zh-CN" altLang="en-US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低</a:t>
            </a:r>
            <a:r>
              <a:rPr lang="en-US" altLang="zh-CN" sz="16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) × Ratio</a:t>
            </a:r>
            <a:endParaRPr lang="zh-CN" altLang="en-US" sz="16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985000" y="49530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依托黄金分割位建立防守，而非盲目用固定百分比止损。</a:t>
            </a:r>
            <a:endParaRPr lang="zh-CN" altLang="en-US" sz="16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94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量价关系辨别趋势真伪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量在价先，成交量是验证方向的关键证据。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33500" y="23241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缩量上涨（风险）</a:t>
            </a:r>
            <a:endParaRPr lang="zh-CN" altLang="en-US" sz="16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111500" y="2260600"/>
            <a:ext cx="5334000" cy="355600"/>
          </a:xfrm>
          <a:prstGeom prst="rect">
            <a:avLst/>
          </a:prstGeom>
          <a:solidFill>
            <a:srgbClr val="233D6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3D62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111500" y="2260600"/>
            <a:ext cx="2095500" cy="355600"/>
          </a:xfrm>
          <a:prstGeom prst="rect">
            <a:avLst/>
          </a:prstGeom>
          <a:solidFill>
            <a:srgbClr val="FF4E58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4E58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333500" y="30607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放量上涨（确立）</a:t>
            </a:r>
            <a:endParaRPr lang="zh-CN" altLang="en-US" sz="16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111500" y="2997200"/>
            <a:ext cx="5334000" cy="355600"/>
          </a:xfrm>
          <a:prstGeom prst="rect">
            <a:avLst/>
          </a:prstGeom>
          <a:solidFill>
            <a:srgbClr val="233D6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3D62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111500" y="2997200"/>
            <a:ext cx="4381500" cy="355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57F5D7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333500" y="37973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放量下跌（转空）</a:t>
            </a:r>
            <a:endParaRPr lang="zh-CN" altLang="en-US" sz="16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111500" y="3733800"/>
            <a:ext cx="5334000" cy="355600"/>
          </a:xfrm>
          <a:prstGeom prst="rect">
            <a:avLst/>
          </a:prstGeom>
          <a:solidFill>
            <a:srgbClr val="233D6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3D62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3111500" y="3733800"/>
            <a:ext cx="4127500" cy="355600"/>
          </a:xfrm>
          <a:prstGeom prst="rect">
            <a:avLst/>
          </a:prstGeom>
          <a:solidFill>
            <a:srgbClr val="FF4E58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4E58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1333500" y="4533900"/>
            <a:ext cx="177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缩量回调（洗盘）</a:t>
            </a:r>
            <a:endParaRPr lang="zh-CN" altLang="en-US" sz="16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111500" y="4470400"/>
            <a:ext cx="5334000" cy="355600"/>
          </a:xfrm>
          <a:prstGeom prst="rect">
            <a:avLst/>
          </a:prstGeom>
          <a:solidFill>
            <a:srgbClr val="233D6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3D62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111500" y="4470400"/>
            <a:ext cx="1905000" cy="355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57F5D7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9017000" y="2387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量价判断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017000" y="3022600"/>
            <a:ext cx="2413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成交量放大并配合价格上行，代表资金共识形成；无量反弹通常只是离场机会。</a:t>
            </a:r>
            <a:endParaRPr lang="zh-CN" altLang="en-US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017000" y="4368800"/>
            <a:ext cx="2413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重点排除：缩量冲高、放量滞涨、关键位跌破后反抽无量。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3341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月线看格局：长线生态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过滤日内杂波，先判断个股是否处于长期底部。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68400" y="2413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25600" y="2438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宏观视野：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073400" y="2438400"/>
            <a:ext cx="406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月线决定大方向，是判断底部与上升周期的第一步。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68400" y="3302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625600" y="3327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核心均线：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073400" y="3327400"/>
            <a:ext cx="406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月线是牛熊分界线，斜率向下时不轻易重仓。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168400" y="4191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625600" y="42164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大周期背离：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073400" y="4216400"/>
            <a:ext cx="406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月线级别 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MACD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底背离，反转确定性更高。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255000" y="4406900"/>
            <a:ext cx="482600" cy="609600"/>
          </a:xfrm>
          <a:prstGeom prst="rect">
            <a:avLst/>
          </a:prstGeom>
          <a:solidFill>
            <a:srgbClr val="147E9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B9BE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8953500" y="4051300"/>
            <a:ext cx="482600" cy="965200"/>
          </a:xfrm>
          <a:prstGeom prst="rect">
            <a:avLst/>
          </a:prstGeom>
          <a:solidFill>
            <a:srgbClr val="147E9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B9BE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652000" y="3619500"/>
            <a:ext cx="482600" cy="1397000"/>
          </a:xfrm>
          <a:prstGeom prst="rect">
            <a:avLst/>
          </a:prstGeom>
          <a:solidFill>
            <a:srgbClr val="147E9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B9BE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350500" y="3111500"/>
            <a:ext cx="482600" cy="1905000"/>
          </a:xfrm>
          <a:prstGeom prst="rect">
            <a:avLst/>
          </a:prstGeom>
          <a:solidFill>
            <a:srgbClr val="147E9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3B9BE">
                    <a:alpha val="75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 flipV="1">
            <a:off x="7937500" y="2413000"/>
            <a:ext cx="3048000" cy="1778000"/>
          </a:xfrm>
          <a:prstGeom prst="line">
            <a:avLst/>
          </a:prstGeom>
          <a:ln w="63500">
            <a:solidFill>
              <a:srgbClr val="57F5D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519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36334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周线看波段：中期买卖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在大方向正确时寻找更优的波段窗口。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914400" y="2412999"/>
            <a:ext cx="3225800" cy="2868713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1938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⌕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1938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中期动能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938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周线金叉或突破 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周线，通常预示中级反弹启动；关注“周线二次金叉”。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4508499" y="2413000"/>
            <a:ext cx="3175001" cy="2868712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47879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⚓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7879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波段防守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7879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周五收盘若不跌破周线支撑，则持有逻辑成立，避免被日内骗线震出。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8102600" y="2413000"/>
            <a:ext cx="3101019" cy="2868712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8382000" y="2743200"/>
            <a:ext cx="63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⚖</a:t>
            </a:r>
            <a:endParaRPr lang="zh-CN" altLang="en-US" sz="28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2000" y="3479800"/>
            <a:ext cx="2616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介入时机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382000" y="4089400"/>
            <a:ext cx="26162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周线级别找支撑位，日线级别用 </a:t>
            </a:r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KDJ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等指标完成精准打击。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944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多周期共振策略体系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大周期看涨，小周期买跌。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914400" y="2412999"/>
            <a:ext cx="4876801" cy="2868713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333500" y="27940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共振逻辑图</a:t>
            </a:r>
            <a:endParaRPr lang="zh-CN" altLang="en-US" sz="24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33500" y="3556000"/>
            <a:ext cx="330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905000" y="3581400"/>
            <a:ext cx="139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月线定势：</a:t>
            </a:r>
            <a:endParaRPr lang="zh-CN" altLang="en-US" sz="17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302000" y="35814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均线多头，趋势向上。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333500" y="4089400"/>
            <a:ext cx="330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905000" y="4114800"/>
            <a:ext cx="139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周线寻机：</a:t>
            </a:r>
            <a:endParaRPr lang="zh-CN" altLang="en-US" sz="17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302000" y="4114800"/>
            <a:ext cx="228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缩量回调至支撑位。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333500" y="4622800"/>
            <a:ext cx="330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905000" y="4648200"/>
            <a:ext cx="139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日线出击：</a:t>
            </a:r>
            <a:endParaRPr lang="zh-CN" altLang="en-US" sz="1700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302000" y="46482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dirty="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弱转强，放量站稳关键点。</a:t>
            </a:r>
            <a:endParaRPr lang="zh-CN" altLang="en-US" sz="1700" dirty="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604000" y="2413000"/>
            <a:ext cx="4644008" cy="2868712"/>
          </a:xfrm>
          <a:prstGeom prst="roundRect">
            <a:avLst/>
          </a:prstGeom>
          <a:solidFill>
            <a:srgbClr val="0F2748"/>
          </a:solidFill>
          <a:ln w="12700" cap="flat" cmpd="sng" algn="ctr">
            <a:solidFill>
              <a:srgbClr val="274974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7010400" y="2895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核心法则</a:t>
            </a:r>
            <a:endParaRPr lang="zh-CN" altLang="en-US" sz="2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010400" y="3377248"/>
            <a:ext cx="3556000" cy="12696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dirty="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通过高级周期的稳定性过滤低级周期噪音，只在共振点交易，盈亏比才最有优势。</a:t>
            </a:r>
            <a:endParaRPr lang="zh-CN" altLang="en-US" sz="1900" dirty="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4446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股实战：</a:t>
            </a:r>
            <a:r>
              <a:rPr lang="en-US" altLang="zh-CN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T+1 </a:t>
            </a:r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机制应对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买入前先设计隔日风险处理方案。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524000" y="23114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981200" y="2336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尾盘决策法：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429000" y="2336800"/>
            <a:ext cx="685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14:30 </a:t>
            </a:r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以后趋势明朗再决定是否介入，规避次日低开风险。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524000" y="32766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981200" y="33020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结构化止损：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429000" y="3302000"/>
            <a:ext cx="685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依托关键位而非固定百分比。逻辑证伪，果断离场。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524000" y="42418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✓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981200" y="42672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DDE8F6"/>
                </a:solidFill>
                <a:latin typeface="Microsoft YaHei" panose="020B0503020204020204" pitchFamily="34" charset="-122"/>
              </a:rPr>
              <a:t>不接飞刀：</a:t>
            </a:r>
            <a:endParaRPr lang="zh-CN" altLang="en-US" b="1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429000" y="4267200"/>
            <a:ext cx="685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宁愿错过底部第一根阳线，也要等待形态确认。</a:t>
            </a:r>
            <a:endParaRPr lang="zh-CN" altLang="en-US" sz="17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244600" y="5334000"/>
            <a:ext cx="9652000" cy="533400"/>
          </a:xfrm>
          <a:prstGeom prst="rect">
            <a:avLst/>
          </a:prstGeom>
          <a:solidFill>
            <a:srgbClr val="0B3748"/>
          </a:solidFill>
          <a:ln w="12700" cap="flat" cmpd="sng" algn="ctr">
            <a:solidFill>
              <a:srgbClr val="265D76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1625600" y="54864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实战口诀：先看能不能亏得明白，再看能不能赚得漂亮。</a:t>
            </a:r>
            <a:endParaRPr lang="zh-CN" altLang="en-US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0488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558800" y="660400"/>
            <a:ext cx="88900" cy="736600"/>
          </a:xfrm>
          <a:prstGeom prst="rect">
            <a:avLst/>
          </a:prstGeom>
          <a:solidFill>
            <a:srgbClr val="57F5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63600" y="635000"/>
            <a:ext cx="9652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3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交易前检查清单</a:t>
            </a:r>
            <a:endParaRPr lang="zh-CN" altLang="en-US" sz="33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889000" y="14097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smtClean="0">
                <a:solidFill>
                  <a:srgbClr val="8E9DB7"/>
                </a:solidFill>
                <a:latin typeface="Microsoft YaHei" panose="020B0503020204020204" pitchFamily="34" charset="-122"/>
              </a:rPr>
              <a:t>把判断方向落实为可执行的流程。</a:t>
            </a:r>
            <a:endParaRPr lang="zh-CN" altLang="en-US" sz="1300">
              <a:solidFill>
                <a:srgbClr val="8E9DB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244600" y="2159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727200" y="21971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大盘处于上升通道或风险可控区间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44600" y="29464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727200" y="29845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板块有政策、业绩或资金共识支撑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244600" y="37338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727200" y="37719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个股趋势线、均线、支撑位清晰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244600" y="45212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727200" y="45593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回调位置与黄金分割</a:t>
            </a:r>
            <a:r>
              <a:rPr lang="en-US" altLang="zh-CN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平台支撑匹配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604000" y="21590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086600" y="21971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成交量验证突破或止跌的真实性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604000" y="29464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086600" y="29845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月线、周线、日线至少两个周期共振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604000" y="3733800"/>
            <a:ext cx="355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□</a:t>
            </a:r>
            <a:endParaRPr lang="zh-CN" altLang="en-US" sz="22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086600" y="3771900"/>
            <a:ext cx="419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入场、止损、止盈方案在买入前写清楚</a:t>
            </a:r>
            <a:endParaRPr lang="zh-CN" altLang="en-US" sz="17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433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0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81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62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44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251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70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283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689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502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908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721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128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8940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9347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0160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05664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3792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7856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406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812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1625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2032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0" y="2844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0" y="3251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0" y="4064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0" y="4470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0" y="52832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0" y="56896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0" y="6502400"/>
            <a:ext cx="12192000" cy="0"/>
          </a:xfrm>
          <a:prstGeom prst="line">
            <a:avLst/>
          </a:prstGeom>
          <a:ln w="6350" cap="flat" cmpd="sng" algn="ctr">
            <a:solidFill>
              <a:srgbClr val="142C4D">
                <a:alpha val="3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0" y="1676400"/>
            <a:ext cx="12192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4400" b="1" smtClean="0">
                <a:solidFill>
                  <a:srgbClr val="57F5D7"/>
                </a:solidFill>
                <a:latin typeface="Microsoft YaHei" panose="020B0503020204020204" pitchFamily="34" charset="-122"/>
              </a:rPr>
              <a:t>建立您的决策逻辑</a:t>
            </a:r>
            <a:endParaRPr lang="zh-CN" altLang="en-US" sz="4400" b="1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460500" y="2997200"/>
            <a:ext cx="927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200" smtClean="0">
                <a:solidFill>
                  <a:srgbClr val="DDE8F6"/>
                </a:solidFill>
                <a:latin typeface="Microsoft YaHei" panose="020B0503020204020204" pitchFamily="34" charset="-122"/>
              </a:rPr>
              <a:t>判断方向只是第一步，建立基于“逻辑证伪”的应对系统才是生存之道。</a:t>
            </a:r>
            <a:endParaRPr lang="zh-CN" altLang="en-US" sz="2200">
              <a:solidFill>
                <a:srgbClr val="DDE8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0" y="4470400"/>
            <a:ext cx="1219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理性投资 </a:t>
            </a:r>
            <a:r>
              <a:rPr lang="en-US" altLang="zh-CN" sz="1600" smtClean="0">
                <a:solidFill>
                  <a:srgbClr val="57F5D7"/>
                </a:solidFill>
                <a:latin typeface="Microsoft YaHei" panose="020B0503020204020204" pitchFamily="34" charset="-122"/>
              </a:rPr>
              <a:t>| </a:t>
            </a:r>
            <a:r>
              <a:rPr lang="zh-CN" altLang="en-US" sz="1600" smtClean="0">
                <a:solidFill>
                  <a:srgbClr val="57F5D7"/>
                </a:solidFill>
                <a:latin typeface="Microsoft YaHei" panose="020B0503020204020204" pitchFamily="34" charset="-122"/>
              </a:rPr>
              <a:t>稳健复利</a:t>
            </a:r>
            <a:endParaRPr lang="zh-CN" altLang="en-US" sz="1600">
              <a:solidFill>
                <a:srgbClr val="57F5D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366500" y="63500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4C6282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000">
              <a:solidFill>
                <a:srgbClr val="4C62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043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1355</Words>
  <Application>Microsoft Office PowerPoint</Application>
  <PresentationFormat>宽屏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DoubleOX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CodexSandboxOffline</dc:creator>
  <cp:lastModifiedBy>Administrator</cp:lastModifiedBy>
  <cp:revision>3</cp:revision>
  <dcterms:created xsi:type="dcterms:W3CDTF">2026-07-01T00:10:57Z</dcterms:created>
  <dcterms:modified xsi:type="dcterms:W3CDTF">2026-07-01T00:20:55Z</dcterms:modified>
</cp:coreProperties>
</file>